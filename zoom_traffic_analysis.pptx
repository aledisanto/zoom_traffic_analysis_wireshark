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11B754-8C91-4FFE-A6A2-BB46B23B19D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834462E-D19E-4E66-8C66-5931C8D09458}">
      <dgm:prSet/>
      <dgm:spPr/>
      <dgm:t>
        <a:bodyPr/>
        <a:lstStyle/>
        <a:p>
          <a:pPr>
            <a:lnSpc>
              <a:spcPct val="100000"/>
            </a:lnSpc>
          </a:pPr>
          <a:r>
            <a:rPr lang="en-US" dirty="0">
              <a:latin typeface="Aptos Narrow" panose="020B0004020202020204" pitchFamily="34" charset="0"/>
            </a:rPr>
            <a:t>We used </a:t>
          </a:r>
          <a:r>
            <a:rPr lang="en-US" b="1" dirty="0">
              <a:latin typeface="Aptos Narrow" panose="020B0004020202020204" pitchFamily="34" charset="0"/>
            </a:rPr>
            <a:t>Wireshark</a:t>
          </a:r>
          <a:r>
            <a:rPr lang="en-US" dirty="0">
              <a:latin typeface="Aptos Narrow" panose="020B0004020202020204" pitchFamily="34" charset="0"/>
            </a:rPr>
            <a:t> to capture our PC traffic while using Zoom</a:t>
          </a:r>
          <a:r>
            <a:rPr lang="en-US" dirty="0"/>
            <a:t>. </a:t>
          </a:r>
        </a:p>
      </dgm:t>
    </dgm:pt>
    <dgm:pt modelId="{E4109395-BCFB-4D4D-87B3-70746D9EB51E}" type="parTrans" cxnId="{095279F4-A330-4B55-90F3-0C322BA6BC4D}">
      <dgm:prSet/>
      <dgm:spPr/>
      <dgm:t>
        <a:bodyPr/>
        <a:lstStyle/>
        <a:p>
          <a:endParaRPr lang="en-US"/>
        </a:p>
      </dgm:t>
    </dgm:pt>
    <dgm:pt modelId="{1E5BB451-19BF-40FF-893A-EEC1E2C8050C}" type="sibTrans" cxnId="{095279F4-A330-4B55-90F3-0C322BA6BC4D}">
      <dgm:prSet/>
      <dgm:spPr/>
      <dgm:t>
        <a:bodyPr/>
        <a:lstStyle/>
        <a:p>
          <a:endParaRPr lang="en-US"/>
        </a:p>
      </dgm:t>
    </dgm:pt>
    <dgm:pt modelId="{1D6AE74E-87FD-4485-9E06-E1773975EBD1}">
      <dgm:prSet/>
      <dgm:spPr/>
      <dgm:t>
        <a:bodyPr/>
        <a:lstStyle/>
        <a:p>
          <a:pPr>
            <a:lnSpc>
              <a:spcPct val="100000"/>
            </a:lnSpc>
          </a:pPr>
          <a:r>
            <a:rPr lang="en-US" b="1" dirty="0">
              <a:latin typeface="Aptos Narrow" panose="020B0004020202020204" pitchFamily="34" charset="0"/>
            </a:rPr>
            <a:t>Wireshark</a:t>
          </a:r>
          <a:r>
            <a:rPr lang="en-US" dirty="0">
              <a:latin typeface="Aptos Narrow" panose="020B0004020202020204" pitchFamily="34" charset="0"/>
            </a:rPr>
            <a:t> is a </a:t>
          </a:r>
          <a:r>
            <a:rPr lang="en-US" b="1" dirty="0">
              <a:latin typeface="Aptos Narrow" panose="020B0004020202020204" pitchFamily="34" charset="0"/>
            </a:rPr>
            <a:t>network protocol analyzer</a:t>
          </a:r>
          <a:r>
            <a:rPr lang="en-US" dirty="0">
              <a:latin typeface="Aptos Narrow" panose="020B0004020202020204" pitchFamily="34" charset="0"/>
            </a:rPr>
            <a:t>: an opensource tool that allows you to capture and inspect in detail data packets passing through a network</a:t>
          </a:r>
          <a:r>
            <a:rPr lang="en-US" dirty="0"/>
            <a:t>. </a:t>
          </a:r>
        </a:p>
      </dgm:t>
    </dgm:pt>
    <dgm:pt modelId="{F38B7CD0-2202-436C-869C-2E78ED59E337}" type="parTrans" cxnId="{76971E34-32A3-4E65-B071-9BCF35973EBB}">
      <dgm:prSet/>
      <dgm:spPr/>
      <dgm:t>
        <a:bodyPr/>
        <a:lstStyle/>
        <a:p>
          <a:endParaRPr lang="en-US"/>
        </a:p>
      </dgm:t>
    </dgm:pt>
    <dgm:pt modelId="{B0CAFD1D-20EB-46BE-B485-9B0CEA647ECD}" type="sibTrans" cxnId="{76971E34-32A3-4E65-B071-9BCF35973EBB}">
      <dgm:prSet/>
      <dgm:spPr/>
      <dgm:t>
        <a:bodyPr/>
        <a:lstStyle/>
        <a:p>
          <a:endParaRPr lang="en-US"/>
        </a:p>
      </dgm:t>
    </dgm:pt>
    <dgm:pt modelId="{1E743AB3-74B1-49F9-94A0-5E17F5AF8E17}" type="pres">
      <dgm:prSet presAssocID="{C311B754-8C91-4FFE-A6A2-BB46B23B19D1}" presName="root" presStyleCnt="0">
        <dgm:presLayoutVars>
          <dgm:dir/>
          <dgm:resizeHandles val="exact"/>
        </dgm:presLayoutVars>
      </dgm:prSet>
      <dgm:spPr/>
    </dgm:pt>
    <dgm:pt modelId="{4E68D518-F89C-4847-98FF-5943DBED0F7D}" type="pres">
      <dgm:prSet presAssocID="{1834462E-D19E-4E66-8C66-5931C8D09458}" presName="compNode" presStyleCnt="0"/>
      <dgm:spPr/>
    </dgm:pt>
    <dgm:pt modelId="{923017CE-F6EC-4A56-810A-906013BDB27F}" type="pres">
      <dgm:prSet presAssocID="{1834462E-D19E-4E66-8C66-5931C8D09458}" presName="bgRect" presStyleLbl="bgShp" presStyleIdx="0" presStyleCnt="2"/>
      <dgm:spPr/>
    </dgm:pt>
    <dgm:pt modelId="{EF9F32F7-64A6-4FDA-ACF1-E27453AF4133}" type="pres">
      <dgm:prSet presAssocID="{1834462E-D19E-4E66-8C66-5931C8D0945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inoculars"/>
        </a:ext>
      </dgm:extLst>
    </dgm:pt>
    <dgm:pt modelId="{26992E4D-7E9F-4D29-A89F-14E762C02F13}" type="pres">
      <dgm:prSet presAssocID="{1834462E-D19E-4E66-8C66-5931C8D09458}" presName="spaceRect" presStyleCnt="0"/>
      <dgm:spPr/>
    </dgm:pt>
    <dgm:pt modelId="{1ABA71B9-839C-4D3A-80D3-FE8C218E00E4}" type="pres">
      <dgm:prSet presAssocID="{1834462E-D19E-4E66-8C66-5931C8D09458}" presName="parTx" presStyleLbl="revTx" presStyleIdx="0" presStyleCnt="2">
        <dgm:presLayoutVars>
          <dgm:chMax val="0"/>
          <dgm:chPref val="0"/>
        </dgm:presLayoutVars>
      </dgm:prSet>
      <dgm:spPr/>
    </dgm:pt>
    <dgm:pt modelId="{40E467F1-72B1-428C-85E6-536B37C4A416}" type="pres">
      <dgm:prSet presAssocID="{1E5BB451-19BF-40FF-893A-EEC1E2C8050C}" presName="sibTrans" presStyleCnt="0"/>
      <dgm:spPr/>
    </dgm:pt>
    <dgm:pt modelId="{959C4997-5DFC-4CE3-AE68-34864414D808}" type="pres">
      <dgm:prSet presAssocID="{1D6AE74E-87FD-4485-9E06-E1773975EBD1}" presName="compNode" presStyleCnt="0"/>
      <dgm:spPr/>
    </dgm:pt>
    <dgm:pt modelId="{1320B281-94D2-40AF-BADE-CBF1FF9D078D}" type="pres">
      <dgm:prSet presAssocID="{1D6AE74E-87FD-4485-9E06-E1773975EBD1}" presName="bgRect" presStyleLbl="bgShp" presStyleIdx="1" presStyleCnt="2"/>
      <dgm:spPr/>
    </dgm:pt>
    <dgm:pt modelId="{A2F7BB18-DFFD-4BD9-B145-E51EDB13AE1C}" type="pres">
      <dgm:prSet presAssocID="{1D6AE74E-87FD-4485-9E06-E1773975EBD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grammer"/>
        </a:ext>
      </dgm:extLst>
    </dgm:pt>
    <dgm:pt modelId="{0AB87F61-D925-4B8C-A86B-32995284F7A2}" type="pres">
      <dgm:prSet presAssocID="{1D6AE74E-87FD-4485-9E06-E1773975EBD1}" presName="spaceRect" presStyleCnt="0"/>
      <dgm:spPr/>
    </dgm:pt>
    <dgm:pt modelId="{BC2CD634-CEC0-47ED-9425-9460496CF2F4}" type="pres">
      <dgm:prSet presAssocID="{1D6AE74E-87FD-4485-9E06-E1773975EBD1}" presName="parTx" presStyleLbl="revTx" presStyleIdx="1" presStyleCnt="2">
        <dgm:presLayoutVars>
          <dgm:chMax val="0"/>
          <dgm:chPref val="0"/>
        </dgm:presLayoutVars>
      </dgm:prSet>
      <dgm:spPr/>
    </dgm:pt>
  </dgm:ptLst>
  <dgm:cxnLst>
    <dgm:cxn modelId="{76971E34-32A3-4E65-B071-9BCF35973EBB}" srcId="{C311B754-8C91-4FFE-A6A2-BB46B23B19D1}" destId="{1D6AE74E-87FD-4485-9E06-E1773975EBD1}" srcOrd="1" destOrd="0" parTransId="{F38B7CD0-2202-436C-869C-2E78ED59E337}" sibTransId="{B0CAFD1D-20EB-46BE-B485-9B0CEA647ECD}"/>
    <dgm:cxn modelId="{8BF44D3E-6BF8-457E-8C65-165C367D57C4}" type="presOf" srcId="{1D6AE74E-87FD-4485-9E06-E1773975EBD1}" destId="{BC2CD634-CEC0-47ED-9425-9460496CF2F4}" srcOrd="0" destOrd="0" presId="urn:microsoft.com/office/officeart/2018/2/layout/IconVerticalSolidList"/>
    <dgm:cxn modelId="{BD58A784-6D75-4A5B-A747-46FA1280A273}" type="presOf" srcId="{1834462E-D19E-4E66-8C66-5931C8D09458}" destId="{1ABA71B9-839C-4D3A-80D3-FE8C218E00E4}" srcOrd="0" destOrd="0" presId="urn:microsoft.com/office/officeart/2018/2/layout/IconVerticalSolidList"/>
    <dgm:cxn modelId="{8EC34A99-2A4D-4511-970B-CFD5D177E64D}" type="presOf" srcId="{C311B754-8C91-4FFE-A6A2-BB46B23B19D1}" destId="{1E743AB3-74B1-49F9-94A0-5E17F5AF8E17}" srcOrd="0" destOrd="0" presId="urn:microsoft.com/office/officeart/2018/2/layout/IconVerticalSolidList"/>
    <dgm:cxn modelId="{095279F4-A330-4B55-90F3-0C322BA6BC4D}" srcId="{C311B754-8C91-4FFE-A6A2-BB46B23B19D1}" destId="{1834462E-D19E-4E66-8C66-5931C8D09458}" srcOrd="0" destOrd="0" parTransId="{E4109395-BCFB-4D4D-87B3-70746D9EB51E}" sibTransId="{1E5BB451-19BF-40FF-893A-EEC1E2C8050C}"/>
    <dgm:cxn modelId="{0F3BF6AE-744A-4F0E-902E-13E0D24308DB}" type="presParOf" srcId="{1E743AB3-74B1-49F9-94A0-5E17F5AF8E17}" destId="{4E68D518-F89C-4847-98FF-5943DBED0F7D}" srcOrd="0" destOrd="0" presId="urn:microsoft.com/office/officeart/2018/2/layout/IconVerticalSolidList"/>
    <dgm:cxn modelId="{8776E136-28F3-47CF-92CA-2A99E1A84D49}" type="presParOf" srcId="{4E68D518-F89C-4847-98FF-5943DBED0F7D}" destId="{923017CE-F6EC-4A56-810A-906013BDB27F}" srcOrd="0" destOrd="0" presId="urn:microsoft.com/office/officeart/2018/2/layout/IconVerticalSolidList"/>
    <dgm:cxn modelId="{C4E5AC47-518B-4EB8-B927-021719D8911A}" type="presParOf" srcId="{4E68D518-F89C-4847-98FF-5943DBED0F7D}" destId="{EF9F32F7-64A6-4FDA-ACF1-E27453AF4133}" srcOrd="1" destOrd="0" presId="urn:microsoft.com/office/officeart/2018/2/layout/IconVerticalSolidList"/>
    <dgm:cxn modelId="{34EDB8F8-0089-4B20-BE12-06776328C17E}" type="presParOf" srcId="{4E68D518-F89C-4847-98FF-5943DBED0F7D}" destId="{26992E4D-7E9F-4D29-A89F-14E762C02F13}" srcOrd="2" destOrd="0" presId="urn:microsoft.com/office/officeart/2018/2/layout/IconVerticalSolidList"/>
    <dgm:cxn modelId="{E9612A15-5B4A-469F-BBEA-5F4FFF197716}" type="presParOf" srcId="{4E68D518-F89C-4847-98FF-5943DBED0F7D}" destId="{1ABA71B9-839C-4D3A-80D3-FE8C218E00E4}" srcOrd="3" destOrd="0" presId="urn:microsoft.com/office/officeart/2018/2/layout/IconVerticalSolidList"/>
    <dgm:cxn modelId="{0B4F4D54-7645-4D0F-99AA-F13A88056800}" type="presParOf" srcId="{1E743AB3-74B1-49F9-94A0-5E17F5AF8E17}" destId="{40E467F1-72B1-428C-85E6-536B37C4A416}" srcOrd="1" destOrd="0" presId="urn:microsoft.com/office/officeart/2018/2/layout/IconVerticalSolidList"/>
    <dgm:cxn modelId="{B81FF866-E33F-454B-8AE2-AF94F97D4AC6}" type="presParOf" srcId="{1E743AB3-74B1-49F9-94A0-5E17F5AF8E17}" destId="{959C4997-5DFC-4CE3-AE68-34864414D808}" srcOrd="2" destOrd="0" presId="urn:microsoft.com/office/officeart/2018/2/layout/IconVerticalSolidList"/>
    <dgm:cxn modelId="{2DB6BC1A-3AAA-449D-8014-A87B7939136F}" type="presParOf" srcId="{959C4997-5DFC-4CE3-AE68-34864414D808}" destId="{1320B281-94D2-40AF-BADE-CBF1FF9D078D}" srcOrd="0" destOrd="0" presId="urn:microsoft.com/office/officeart/2018/2/layout/IconVerticalSolidList"/>
    <dgm:cxn modelId="{CD868B46-74A2-401F-B7E4-0D0BD1BF6D07}" type="presParOf" srcId="{959C4997-5DFC-4CE3-AE68-34864414D808}" destId="{A2F7BB18-DFFD-4BD9-B145-E51EDB13AE1C}" srcOrd="1" destOrd="0" presId="urn:microsoft.com/office/officeart/2018/2/layout/IconVerticalSolidList"/>
    <dgm:cxn modelId="{AB13A9E5-03E9-4308-964C-8BD7EF947556}" type="presParOf" srcId="{959C4997-5DFC-4CE3-AE68-34864414D808}" destId="{0AB87F61-D925-4B8C-A86B-32995284F7A2}" srcOrd="2" destOrd="0" presId="urn:microsoft.com/office/officeart/2018/2/layout/IconVerticalSolidList"/>
    <dgm:cxn modelId="{64901430-D683-4F44-80DD-3AC62F6B0E5E}" type="presParOf" srcId="{959C4997-5DFC-4CE3-AE68-34864414D808}" destId="{BC2CD634-CEC0-47ED-9425-9460496CF2F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5BCF89-6390-4FE4-886B-4BE38BD2BAA5}" type="doc">
      <dgm:prSet loTypeId="urn:microsoft.com/office/officeart/2016/7/layout/LinearBlockProcessNumbered" loCatId="process" qsTypeId="urn:microsoft.com/office/officeart/2005/8/quickstyle/simple1" qsCatId="simple" csTypeId="urn:microsoft.com/office/officeart/2005/8/colors/accent1_2" csCatId="accent1"/>
      <dgm:spPr/>
      <dgm:t>
        <a:bodyPr/>
        <a:lstStyle/>
        <a:p>
          <a:endParaRPr lang="en-US"/>
        </a:p>
      </dgm:t>
    </dgm:pt>
    <dgm:pt modelId="{190600D7-4107-4918-B898-40FFA312D462}">
      <dgm:prSet/>
      <dgm:spPr/>
      <dgm:t>
        <a:bodyPr/>
        <a:lstStyle/>
        <a:p>
          <a:r>
            <a:rPr lang="it-IT" dirty="0" err="1">
              <a:latin typeface="Aptos Narrow" panose="020B0004020202020204" pitchFamily="34" charset="0"/>
            </a:rPr>
            <a:t>Packets</a:t>
          </a:r>
          <a:r>
            <a:rPr lang="it-IT" dirty="0">
              <a:latin typeface="Aptos Narrow" panose="020B0004020202020204" pitchFamily="34" charset="0"/>
            </a:rPr>
            <a:t> with </a:t>
          </a:r>
          <a:r>
            <a:rPr lang="it-IT" b="1" dirty="0" err="1">
              <a:latin typeface="Aptos Narrow" panose="020B0004020202020204" pitchFamily="34" charset="0"/>
            </a:rPr>
            <a:t>Wireguard</a:t>
          </a:r>
          <a:r>
            <a:rPr lang="it-IT" b="1" dirty="0">
              <a:latin typeface="Aptos Narrow" panose="020B0004020202020204" pitchFamily="34" charset="0"/>
            </a:rPr>
            <a:t> </a:t>
          </a:r>
          <a:r>
            <a:rPr lang="it-IT" b="1" dirty="0" err="1">
              <a:latin typeface="Aptos Narrow" panose="020B0004020202020204" pitchFamily="34" charset="0"/>
            </a:rPr>
            <a:t>Protocol</a:t>
          </a:r>
          <a:r>
            <a:rPr lang="it-IT" b="1" dirty="0">
              <a:latin typeface="Aptos Narrow" panose="020B0004020202020204" pitchFamily="34" charset="0"/>
            </a:rPr>
            <a:t> </a:t>
          </a:r>
          <a:r>
            <a:rPr lang="it-IT" dirty="0">
              <a:latin typeface="Aptos Narrow" panose="020B0004020202020204" pitchFamily="34" charset="0"/>
            </a:rPr>
            <a:t>are Zoom packages </a:t>
          </a:r>
          <a:r>
            <a:rPr lang="it-IT" dirty="0" err="1">
              <a:latin typeface="Aptos Narrow" panose="020B0004020202020204" pitchFamily="34" charset="0"/>
            </a:rPr>
            <a:t>encrypted</a:t>
          </a:r>
          <a:r>
            <a:rPr lang="it-IT" dirty="0">
              <a:latin typeface="Aptos Narrow" panose="020B0004020202020204" pitchFamily="34" charset="0"/>
            </a:rPr>
            <a:t> with </a:t>
          </a:r>
          <a:r>
            <a:rPr lang="it-IT" b="1" dirty="0">
              <a:latin typeface="Aptos Narrow" panose="020B0004020202020204" pitchFamily="34" charset="0"/>
            </a:rPr>
            <a:t>DTLS-SRTP</a:t>
          </a:r>
          <a:r>
            <a:rPr lang="it-IT" dirty="0">
              <a:latin typeface="Aptos Narrow" panose="020B0004020202020204" pitchFamily="34" charset="0"/>
            </a:rPr>
            <a:t>, for the following </a:t>
          </a:r>
          <a:r>
            <a:rPr lang="it-IT" dirty="0" err="1">
              <a:latin typeface="Aptos Narrow" panose="020B0004020202020204" pitchFamily="34" charset="0"/>
            </a:rPr>
            <a:t>reasons</a:t>
          </a:r>
          <a:r>
            <a:rPr lang="it-IT" dirty="0">
              <a:latin typeface="Aptos Narrow" panose="020B0004020202020204" pitchFamily="34" charset="0"/>
            </a:rPr>
            <a:t>:</a:t>
          </a:r>
          <a:endParaRPr lang="en-US" dirty="0">
            <a:latin typeface="Aptos Narrow" panose="020B0004020202020204" pitchFamily="34" charset="0"/>
          </a:endParaRPr>
        </a:p>
      </dgm:t>
    </dgm:pt>
    <dgm:pt modelId="{8C8C7CB9-0FC9-49C0-8379-6C3ED0E47D64}" type="parTrans" cxnId="{9754E915-0F81-433C-9491-4C3A22ED47A5}">
      <dgm:prSet/>
      <dgm:spPr/>
      <dgm:t>
        <a:bodyPr/>
        <a:lstStyle/>
        <a:p>
          <a:endParaRPr lang="en-US"/>
        </a:p>
      </dgm:t>
    </dgm:pt>
    <dgm:pt modelId="{70D66081-D5AF-4D1F-86DA-CC4ED9464155}" type="sibTrans" cxnId="{9754E915-0F81-433C-9491-4C3A22ED47A5}">
      <dgm:prSet phldrT="01" phldr="0"/>
      <dgm:spPr/>
      <dgm:t>
        <a:bodyPr/>
        <a:lstStyle/>
        <a:p>
          <a:r>
            <a:rPr lang="en-US" dirty="0"/>
            <a:t>01</a:t>
          </a:r>
        </a:p>
      </dgm:t>
    </dgm:pt>
    <dgm:pt modelId="{096D3413-9525-4B6D-8C21-7908E4A93474}">
      <dgm:prSet/>
      <dgm:spPr/>
      <dgm:t>
        <a:bodyPr/>
        <a:lstStyle/>
        <a:p>
          <a:r>
            <a:rPr lang="it-IT" dirty="0" err="1">
              <a:latin typeface="Aptos Narrow" panose="020B0004020202020204" pitchFamily="34" charset="0"/>
            </a:rPr>
            <a:t>WireGuard</a:t>
          </a:r>
          <a:r>
            <a:rPr lang="it-IT" dirty="0">
              <a:latin typeface="Aptos Narrow" panose="020B0004020202020204" pitchFamily="34" charset="0"/>
            </a:rPr>
            <a:t> </a:t>
          </a:r>
          <a:r>
            <a:rPr lang="it-IT" dirty="0" err="1">
              <a:latin typeface="Aptos Narrow" panose="020B0004020202020204" pitchFamily="34" charset="0"/>
            </a:rPr>
            <a:t>uses</a:t>
          </a:r>
          <a:r>
            <a:rPr lang="it-IT" dirty="0">
              <a:latin typeface="Aptos Narrow" panose="020B0004020202020204" pitchFamily="34" charset="0"/>
            </a:rPr>
            <a:t> UDP/51820 (</a:t>
          </a:r>
          <a:r>
            <a:rPr lang="it-IT" dirty="0" err="1">
              <a:latin typeface="Aptos Narrow" panose="020B0004020202020204" pitchFamily="34" charset="0"/>
            </a:rPr>
            <a:t>not</a:t>
          </a:r>
          <a:r>
            <a:rPr lang="it-IT" dirty="0">
              <a:latin typeface="Aptos Narrow" panose="020B0004020202020204" pitchFamily="34" charset="0"/>
            </a:rPr>
            <a:t> </a:t>
          </a:r>
          <a:r>
            <a:rPr lang="it-IT" b="1" dirty="0">
              <a:latin typeface="Aptos Narrow" panose="020B0004020202020204" pitchFamily="34" charset="0"/>
            </a:rPr>
            <a:t>8801</a:t>
          </a:r>
          <a:r>
            <a:rPr lang="it-IT" dirty="0">
              <a:latin typeface="Aptos Narrow" panose="020B0004020202020204" pitchFamily="34" charset="0"/>
            </a:rPr>
            <a:t>) by default</a:t>
          </a:r>
          <a:endParaRPr lang="en-US" dirty="0">
            <a:latin typeface="Aptos Narrow" panose="020B0004020202020204" pitchFamily="34" charset="0"/>
          </a:endParaRPr>
        </a:p>
      </dgm:t>
    </dgm:pt>
    <dgm:pt modelId="{18CDD7C3-FE68-4A85-A035-2626E8B7B84E}" type="parTrans" cxnId="{7BFA1153-9B66-42A8-8A98-857AFF3018A2}">
      <dgm:prSet/>
      <dgm:spPr/>
      <dgm:t>
        <a:bodyPr/>
        <a:lstStyle/>
        <a:p>
          <a:endParaRPr lang="en-US"/>
        </a:p>
      </dgm:t>
    </dgm:pt>
    <dgm:pt modelId="{0C0FACAE-2663-417F-A0FC-6CF19A6271C5}" type="sibTrans" cxnId="{7BFA1153-9B66-42A8-8A98-857AFF3018A2}">
      <dgm:prSet phldrT="02" phldr="0"/>
      <dgm:spPr/>
      <dgm:t>
        <a:bodyPr/>
        <a:lstStyle/>
        <a:p>
          <a:r>
            <a:rPr lang="en-US"/>
            <a:t>02</a:t>
          </a:r>
        </a:p>
      </dgm:t>
    </dgm:pt>
    <dgm:pt modelId="{0453DE62-B32A-408B-BBF6-308D0563CBA3}">
      <dgm:prSet/>
      <dgm:spPr/>
      <dgm:t>
        <a:bodyPr/>
        <a:lstStyle/>
        <a:p>
          <a:r>
            <a:rPr lang="it-IT" dirty="0">
              <a:latin typeface="Aptos Narrow" panose="020B0004020202020204" pitchFamily="34" charset="0"/>
            </a:rPr>
            <a:t>In </a:t>
          </a:r>
          <a:r>
            <a:rPr lang="it-IT" dirty="0" err="1">
              <a:latin typeface="Aptos Narrow" panose="020B0004020202020204" pitchFamily="34" charset="0"/>
            </a:rPr>
            <a:t>Wireshark</a:t>
          </a:r>
          <a:r>
            <a:rPr lang="it-IT" dirty="0">
              <a:latin typeface="Aptos Narrow" panose="020B0004020202020204" pitchFamily="34" charset="0"/>
            </a:rPr>
            <a:t>, </a:t>
          </a:r>
          <a:r>
            <a:rPr lang="it-IT" dirty="0" err="1">
              <a:latin typeface="Aptos Narrow" panose="020B0004020202020204" pitchFamily="34" charset="0"/>
            </a:rPr>
            <a:t>sometimes</a:t>
          </a:r>
          <a:r>
            <a:rPr lang="it-IT" dirty="0">
              <a:latin typeface="Aptos Narrow" panose="020B0004020202020204" pitchFamily="34" charset="0"/>
            </a:rPr>
            <a:t> </a:t>
          </a:r>
          <a:r>
            <a:rPr lang="it-IT" b="1" dirty="0">
              <a:latin typeface="Aptos Narrow" panose="020B0004020202020204" pitchFamily="34" charset="0"/>
            </a:rPr>
            <a:t>DTLS/SRTP </a:t>
          </a:r>
          <a:r>
            <a:rPr lang="it-IT" dirty="0" err="1">
              <a:latin typeface="Aptos Narrow" panose="020B0004020202020204" pitchFamily="34" charset="0"/>
            </a:rPr>
            <a:t>encrypted</a:t>
          </a:r>
          <a:r>
            <a:rPr lang="it-IT" dirty="0">
              <a:latin typeface="Aptos Narrow" panose="020B0004020202020204" pitchFamily="34" charset="0"/>
            </a:rPr>
            <a:t> </a:t>
          </a:r>
          <a:r>
            <a:rPr lang="it-IT" dirty="0" err="1">
              <a:latin typeface="Aptos Narrow" panose="020B0004020202020204" pitchFamily="34" charset="0"/>
            </a:rPr>
            <a:t>packet</a:t>
          </a:r>
          <a:r>
            <a:rPr lang="it-IT" dirty="0">
              <a:latin typeface="Aptos Narrow" panose="020B0004020202020204" pitchFamily="34" charset="0"/>
            </a:rPr>
            <a:t> </a:t>
          </a:r>
          <a:r>
            <a:rPr lang="it-IT" b="1" dirty="0" err="1">
              <a:latin typeface="Aptos Narrow" panose="020B0004020202020204" pitchFamily="34" charset="0"/>
            </a:rPr>
            <a:t>headers</a:t>
          </a:r>
          <a:r>
            <a:rPr lang="it-IT" dirty="0">
              <a:latin typeface="Aptos Narrow" panose="020B0004020202020204" pitchFamily="34" charset="0"/>
            </a:rPr>
            <a:t> look like </a:t>
          </a:r>
          <a:r>
            <a:rPr lang="it-IT" dirty="0" err="1">
              <a:latin typeface="Aptos Narrow" panose="020B0004020202020204" pitchFamily="34" charset="0"/>
            </a:rPr>
            <a:t>WireGuard</a:t>
          </a:r>
          <a:r>
            <a:rPr lang="it-IT" dirty="0">
              <a:latin typeface="Aptos Narrow" panose="020B0004020202020204" pitchFamily="34" charset="0"/>
            </a:rPr>
            <a:t>, so </a:t>
          </a:r>
          <a:r>
            <a:rPr lang="it-IT" dirty="0" err="1">
              <a:latin typeface="Aptos Narrow" panose="020B0004020202020204" pitchFamily="34" charset="0"/>
            </a:rPr>
            <a:t>incorrect</a:t>
          </a:r>
          <a:r>
            <a:rPr lang="it-IT" dirty="0">
              <a:latin typeface="Aptos Narrow" panose="020B0004020202020204" pitchFamily="34" charset="0"/>
            </a:rPr>
            <a:t> </a:t>
          </a:r>
          <a:r>
            <a:rPr lang="it-IT" dirty="0" err="1">
              <a:latin typeface="Aptos Narrow" panose="020B0004020202020204" pitchFamily="34" charset="0"/>
            </a:rPr>
            <a:t>labeling</a:t>
          </a:r>
          <a:endParaRPr lang="en-US" dirty="0">
            <a:latin typeface="Aptos Narrow" panose="020B0004020202020204" pitchFamily="34" charset="0"/>
          </a:endParaRPr>
        </a:p>
      </dgm:t>
    </dgm:pt>
    <dgm:pt modelId="{4D5AC9DD-EE63-47CE-9EA6-2BAD34826A57}" type="parTrans" cxnId="{49398861-6B1C-4799-B391-EE08D0AE95F0}">
      <dgm:prSet/>
      <dgm:spPr/>
      <dgm:t>
        <a:bodyPr/>
        <a:lstStyle/>
        <a:p>
          <a:endParaRPr lang="en-US"/>
        </a:p>
      </dgm:t>
    </dgm:pt>
    <dgm:pt modelId="{6BB4525A-601D-4016-A588-1B1E4A397DAB}" type="sibTrans" cxnId="{49398861-6B1C-4799-B391-EE08D0AE95F0}">
      <dgm:prSet phldrT="03" phldr="0"/>
      <dgm:spPr/>
      <dgm:t>
        <a:bodyPr/>
        <a:lstStyle/>
        <a:p>
          <a:r>
            <a:rPr lang="en-US"/>
            <a:t>03</a:t>
          </a:r>
          <a:endParaRPr lang="en-US" dirty="0"/>
        </a:p>
      </dgm:t>
    </dgm:pt>
    <dgm:pt modelId="{29CD72E6-FD30-4289-BED4-6E1DE47F75BB}">
      <dgm:prSet/>
      <dgm:spPr/>
      <dgm:t>
        <a:bodyPr/>
        <a:lstStyle/>
        <a:p>
          <a:r>
            <a:rPr lang="it-IT" dirty="0">
              <a:latin typeface="Aptos Narrow" panose="020B0004020202020204" pitchFamily="34" charset="0"/>
            </a:rPr>
            <a:t>IP </a:t>
          </a:r>
          <a:r>
            <a:rPr lang="it-IT" b="1" dirty="0">
              <a:latin typeface="Aptos Narrow" panose="020B0004020202020204" pitchFamily="34" charset="0"/>
            </a:rPr>
            <a:t>206.247.42.42</a:t>
          </a:r>
          <a:r>
            <a:rPr lang="it-IT" dirty="0">
              <a:latin typeface="Aptos Narrow" panose="020B0004020202020204" pitchFamily="34" charset="0"/>
            </a:rPr>
            <a:t> </a:t>
          </a:r>
          <a:r>
            <a:rPr lang="it-IT" dirty="0" err="1">
              <a:latin typeface="Aptos Narrow" panose="020B0004020202020204" pitchFamily="34" charset="0"/>
            </a:rPr>
            <a:t>belongs</a:t>
          </a:r>
          <a:r>
            <a:rPr lang="it-IT" dirty="0">
              <a:latin typeface="Aptos Narrow" panose="020B0004020202020204" pitchFamily="34" charset="0"/>
            </a:rPr>
            <a:t> to a </a:t>
          </a:r>
          <a:r>
            <a:rPr lang="it-IT" dirty="0" err="1">
              <a:latin typeface="Aptos Narrow" panose="020B0004020202020204" pitchFamily="34" charset="0"/>
            </a:rPr>
            <a:t>block</a:t>
          </a:r>
          <a:r>
            <a:rPr lang="it-IT" dirty="0">
              <a:latin typeface="Aptos Narrow" panose="020B0004020202020204" pitchFamily="34" charset="0"/>
            </a:rPr>
            <a:t> </a:t>
          </a:r>
          <a:r>
            <a:rPr lang="it-IT" dirty="0" err="1">
              <a:latin typeface="Aptos Narrow" panose="020B0004020202020204" pitchFamily="34" charset="0"/>
            </a:rPr>
            <a:t>used</a:t>
          </a:r>
          <a:r>
            <a:rPr lang="it-IT" dirty="0">
              <a:latin typeface="Aptos Narrow" panose="020B0004020202020204" pitchFamily="34" charset="0"/>
            </a:rPr>
            <a:t> by Zoom for </a:t>
          </a:r>
          <a:r>
            <a:rPr lang="it-IT" b="1" dirty="0">
              <a:latin typeface="Aptos Narrow" panose="020B0004020202020204" pitchFamily="34" charset="0"/>
            </a:rPr>
            <a:t>media servers</a:t>
          </a:r>
          <a:r>
            <a:rPr lang="it-IT" dirty="0">
              <a:latin typeface="Aptos Narrow" panose="020B0004020202020204" pitchFamily="34" charset="0"/>
            </a:rPr>
            <a:t>, </a:t>
          </a:r>
          <a:r>
            <a:rPr lang="it-IT" u="sng" dirty="0" err="1">
              <a:latin typeface="Aptos Narrow" panose="020B0004020202020204" pitchFamily="34" charset="0"/>
            </a:rPr>
            <a:t>not</a:t>
          </a:r>
          <a:r>
            <a:rPr lang="it-IT" dirty="0">
              <a:latin typeface="Aptos Narrow" panose="020B0004020202020204" pitchFamily="34" charset="0"/>
            </a:rPr>
            <a:t> a </a:t>
          </a:r>
          <a:r>
            <a:rPr lang="it-IT" b="0" dirty="0">
              <a:latin typeface="Aptos Narrow" panose="020B0004020202020204" pitchFamily="34" charset="0"/>
            </a:rPr>
            <a:t>VPN provider</a:t>
          </a:r>
          <a:endParaRPr lang="en-US" b="0" dirty="0">
            <a:latin typeface="Aptos Narrow" panose="020B0004020202020204" pitchFamily="34" charset="0"/>
          </a:endParaRPr>
        </a:p>
      </dgm:t>
    </dgm:pt>
    <dgm:pt modelId="{E4CD4A41-956B-4C8A-8621-AC8E4A226FC0}" type="parTrans" cxnId="{E0D6ADA4-53BF-479D-86A3-962038ACF690}">
      <dgm:prSet/>
      <dgm:spPr/>
      <dgm:t>
        <a:bodyPr/>
        <a:lstStyle/>
        <a:p>
          <a:endParaRPr lang="en-US"/>
        </a:p>
      </dgm:t>
    </dgm:pt>
    <dgm:pt modelId="{5999DFB2-8001-4BCB-9C9A-83727A9A4EC8}" type="sibTrans" cxnId="{E0D6ADA4-53BF-479D-86A3-962038ACF690}">
      <dgm:prSet phldrT="04" phldr="0"/>
      <dgm:spPr/>
      <dgm:t>
        <a:bodyPr/>
        <a:lstStyle/>
        <a:p>
          <a:r>
            <a:rPr lang="en-US"/>
            <a:t>04</a:t>
          </a:r>
        </a:p>
      </dgm:t>
    </dgm:pt>
    <dgm:pt modelId="{21C1A801-D796-4AF8-9DD3-4D02622121C5}" type="pres">
      <dgm:prSet presAssocID="{E75BCF89-6390-4FE4-886B-4BE38BD2BAA5}" presName="Name0" presStyleCnt="0">
        <dgm:presLayoutVars>
          <dgm:animLvl val="lvl"/>
          <dgm:resizeHandles val="exact"/>
        </dgm:presLayoutVars>
      </dgm:prSet>
      <dgm:spPr/>
    </dgm:pt>
    <dgm:pt modelId="{6010E8A7-CCEA-4BC6-89DE-B560D2EB3C18}" type="pres">
      <dgm:prSet presAssocID="{190600D7-4107-4918-B898-40FFA312D462}" presName="compositeNode" presStyleCnt="0">
        <dgm:presLayoutVars>
          <dgm:bulletEnabled val="1"/>
        </dgm:presLayoutVars>
      </dgm:prSet>
      <dgm:spPr/>
    </dgm:pt>
    <dgm:pt modelId="{F03F2EF4-0585-4E34-BD01-536232E87CD6}" type="pres">
      <dgm:prSet presAssocID="{190600D7-4107-4918-B898-40FFA312D462}" presName="bgRect" presStyleLbl="alignNode1" presStyleIdx="0" presStyleCnt="4"/>
      <dgm:spPr/>
    </dgm:pt>
    <dgm:pt modelId="{5D88F16F-C1D4-436B-AFDA-E89D1A399AA8}" type="pres">
      <dgm:prSet presAssocID="{70D66081-D5AF-4D1F-86DA-CC4ED9464155}" presName="sibTransNodeRect" presStyleLbl="alignNode1" presStyleIdx="0" presStyleCnt="4">
        <dgm:presLayoutVars>
          <dgm:chMax val="0"/>
          <dgm:bulletEnabled val="1"/>
        </dgm:presLayoutVars>
      </dgm:prSet>
      <dgm:spPr/>
    </dgm:pt>
    <dgm:pt modelId="{139037F3-62D7-4E08-8E06-9FF351B82B10}" type="pres">
      <dgm:prSet presAssocID="{190600D7-4107-4918-B898-40FFA312D462}" presName="nodeRect" presStyleLbl="alignNode1" presStyleIdx="0" presStyleCnt="4">
        <dgm:presLayoutVars>
          <dgm:bulletEnabled val="1"/>
        </dgm:presLayoutVars>
      </dgm:prSet>
      <dgm:spPr/>
    </dgm:pt>
    <dgm:pt modelId="{FB8F52C2-2E7C-4ADF-A998-10E7782C8D69}" type="pres">
      <dgm:prSet presAssocID="{70D66081-D5AF-4D1F-86DA-CC4ED9464155}" presName="sibTrans" presStyleCnt="0"/>
      <dgm:spPr/>
    </dgm:pt>
    <dgm:pt modelId="{A1C21A82-242F-4647-9CDB-192F6896D31D}" type="pres">
      <dgm:prSet presAssocID="{096D3413-9525-4B6D-8C21-7908E4A93474}" presName="compositeNode" presStyleCnt="0">
        <dgm:presLayoutVars>
          <dgm:bulletEnabled val="1"/>
        </dgm:presLayoutVars>
      </dgm:prSet>
      <dgm:spPr/>
    </dgm:pt>
    <dgm:pt modelId="{99F1CB79-A0A5-45AA-9EDE-12A10253D050}" type="pres">
      <dgm:prSet presAssocID="{096D3413-9525-4B6D-8C21-7908E4A93474}" presName="bgRect" presStyleLbl="alignNode1" presStyleIdx="1" presStyleCnt="4"/>
      <dgm:spPr/>
    </dgm:pt>
    <dgm:pt modelId="{8E0B8988-37D3-44CE-8374-E4E935C1D1D5}" type="pres">
      <dgm:prSet presAssocID="{0C0FACAE-2663-417F-A0FC-6CF19A6271C5}" presName="sibTransNodeRect" presStyleLbl="alignNode1" presStyleIdx="1" presStyleCnt="4">
        <dgm:presLayoutVars>
          <dgm:chMax val="0"/>
          <dgm:bulletEnabled val="1"/>
        </dgm:presLayoutVars>
      </dgm:prSet>
      <dgm:spPr/>
    </dgm:pt>
    <dgm:pt modelId="{18A9CDBC-7542-449C-86A7-B283D52E7AB0}" type="pres">
      <dgm:prSet presAssocID="{096D3413-9525-4B6D-8C21-7908E4A93474}" presName="nodeRect" presStyleLbl="alignNode1" presStyleIdx="1" presStyleCnt="4">
        <dgm:presLayoutVars>
          <dgm:bulletEnabled val="1"/>
        </dgm:presLayoutVars>
      </dgm:prSet>
      <dgm:spPr/>
    </dgm:pt>
    <dgm:pt modelId="{0EE29DD0-D2F8-4589-93E9-CDBA325683DC}" type="pres">
      <dgm:prSet presAssocID="{0C0FACAE-2663-417F-A0FC-6CF19A6271C5}" presName="sibTrans" presStyleCnt="0"/>
      <dgm:spPr/>
    </dgm:pt>
    <dgm:pt modelId="{C755950A-F0B9-4628-954A-36F1AE3C0B80}" type="pres">
      <dgm:prSet presAssocID="{0453DE62-B32A-408B-BBF6-308D0563CBA3}" presName="compositeNode" presStyleCnt="0">
        <dgm:presLayoutVars>
          <dgm:bulletEnabled val="1"/>
        </dgm:presLayoutVars>
      </dgm:prSet>
      <dgm:spPr/>
    </dgm:pt>
    <dgm:pt modelId="{5798321B-4774-49D2-9145-F469DD930DAA}" type="pres">
      <dgm:prSet presAssocID="{0453DE62-B32A-408B-BBF6-308D0563CBA3}" presName="bgRect" presStyleLbl="alignNode1" presStyleIdx="2" presStyleCnt="4"/>
      <dgm:spPr/>
    </dgm:pt>
    <dgm:pt modelId="{79CCCAF3-66C8-44D6-829F-DD7B08424306}" type="pres">
      <dgm:prSet presAssocID="{6BB4525A-601D-4016-A588-1B1E4A397DAB}" presName="sibTransNodeRect" presStyleLbl="alignNode1" presStyleIdx="2" presStyleCnt="4">
        <dgm:presLayoutVars>
          <dgm:chMax val="0"/>
          <dgm:bulletEnabled val="1"/>
        </dgm:presLayoutVars>
      </dgm:prSet>
      <dgm:spPr/>
    </dgm:pt>
    <dgm:pt modelId="{51A996EB-3FDB-4AC4-84AB-C71AD1452191}" type="pres">
      <dgm:prSet presAssocID="{0453DE62-B32A-408B-BBF6-308D0563CBA3}" presName="nodeRect" presStyleLbl="alignNode1" presStyleIdx="2" presStyleCnt="4">
        <dgm:presLayoutVars>
          <dgm:bulletEnabled val="1"/>
        </dgm:presLayoutVars>
      </dgm:prSet>
      <dgm:spPr/>
    </dgm:pt>
    <dgm:pt modelId="{FE915E49-C92E-4723-837F-F820694935CC}" type="pres">
      <dgm:prSet presAssocID="{6BB4525A-601D-4016-A588-1B1E4A397DAB}" presName="sibTrans" presStyleCnt="0"/>
      <dgm:spPr/>
    </dgm:pt>
    <dgm:pt modelId="{D75D15B1-8C97-4D0A-8EB0-9D74ACE1BD32}" type="pres">
      <dgm:prSet presAssocID="{29CD72E6-FD30-4289-BED4-6E1DE47F75BB}" presName="compositeNode" presStyleCnt="0">
        <dgm:presLayoutVars>
          <dgm:bulletEnabled val="1"/>
        </dgm:presLayoutVars>
      </dgm:prSet>
      <dgm:spPr/>
    </dgm:pt>
    <dgm:pt modelId="{CC1726B7-6DE3-43E8-BE53-281F41551E9F}" type="pres">
      <dgm:prSet presAssocID="{29CD72E6-FD30-4289-BED4-6E1DE47F75BB}" presName="bgRect" presStyleLbl="alignNode1" presStyleIdx="3" presStyleCnt="4"/>
      <dgm:spPr/>
    </dgm:pt>
    <dgm:pt modelId="{98989ECB-245D-47F4-93CF-87DA56E00509}" type="pres">
      <dgm:prSet presAssocID="{5999DFB2-8001-4BCB-9C9A-83727A9A4EC8}" presName="sibTransNodeRect" presStyleLbl="alignNode1" presStyleIdx="3" presStyleCnt="4">
        <dgm:presLayoutVars>
          <dgm:chMax val="0"/>
          <dgm:bulletEnabled val="1"/>
        </dgm:presLayoutVars>
      </dgm:prSet>
      <dgm:spPr/>
    </dgm:pt>
    <dgm:pt modelId="{9A95F1E8-3420-49D2-BA8B-B09B43985E8C}" type="pres">
      <dgm:prSet presAssocID="{29CD72E6-FD30-4289-BED4-6E1DE47F75BB}" presName="nodeRect" presStyleLbl="alignNode1" presStyleIdx="3" presStyleCnt="4">
        <dgm:presLayoutVars>
          <dgm:bulletEnabled val="1"/>
        </dgm:presLayoutVars>
      </dgm:prSet>
      <dgm:spPr/>
    </dgm:pt>
  </dgm:ptLst>
  <dgm:cxnLst>
    <dgm:cxn modelId="{9754E915-0F81-433C-9491-4C3A22ED47A5}" srcId="{E75BCF89-6390-4FE4-886B-4BE38BD2BAA5}" destId="{190600D7-4107-4918-B898-40FFA312D462}" srcOrd="0" destOrd="0" parTransId="{8C8C7CB9-0FC9-49C0-8379-6C3ED0E47D64}" sibTransId="{70D66081-D5AF-4D1F-86DA-CC4ED9464155}"/>
    <dgm:cxn modelId="{4829B923-E9DA-4F8F-BBE5-513ED023117B}" type="presOf" srcId="{190600D7-4107-4918-B898-40FFA312D462}" destId="{139037F3-62D7-4E08-8E06-9FF351B82B10}" srcOrd="1" destOrd="0" presId="urn:microsoft.com/office/officeart/2016/7/layout/LinearBlockProcessNumbered"/>
    <dgm:cxn modelId="{8511B929-70FD-4732-8720-8C9F772B7374}" type="presOf" srcId="{190600D7-4107-4918-B898-40FFA312D462}" destId="{F03F2EF4-0585-4E34-BD01-536232E87CD6}" srcOrd="0" destOrd="0" presId="urn:microsoft.com/office/officeart/2016/7/layout/LinearBlockProcessNumbered"/>
    <dgm:cxn modelId="{49398861-6B1C-4799-B391-EE08D0AE95F0}" srcId="{E75BCF89-6390-4FE4-886B-4BE38BD2BAA5}" destId="{0453DE62-B32A-408B-BBF6-308D0563CBA3}" srcOrd="2" destOrd="0" parTransId="{4D5AC9DD-EE63-47CE-9EA6-2BAD34826A57}" sibTransId="{6BB4525A-601D-4016-A588-1B1E4A397DAB}"/>
    <dgm:cxn modelId="{07499565-8422-481F-9D37-FFF8F374FE65}" type="presOf" srcId="{0453DE62-B32A-408B-BBF6-308D0563CBA3}" destId="{51A996EB-3FDB-4AC4-84AB-C71AD1452191}" srcOrd="1" destOrd="0" presId="urn:microsoft.com/office/officeart/2016/7/layout/LinearBlockProcessNumbered"/>
    <dgm:cxn modelId="{ED71506D-CA64-40D4-B492-304C4AFA9BAC}" type="presOf" srcId="{096D3413-9525-4B6D-8C21-7908E4A93474}" destId="{18A9CDBC-7542-449C-86A7-B283D52E7AB0}" srcOrd="1" destOrd="0" presId="urn:microsoft.com/office/officeart/2016/7/layout/LinearBlockProcessNumbered"/>
    <dgm:cxn modelId="{E0D9074E-B721-4FC3-A940-45ACBA70AEF6}" type="presOf" srcId="{096D3413-9525-4B6D-8C21-7908E4A93474}" destId="{99F1CB79-A0A5-45AA-9EDE-12A10253D050}" srcOrd="0" destOrd="0" presId="urn:microsoft.com/office/officeart/2016/7/layout/LinearBlockProcessNumbered"/>
    <dgm:cxn modelId="{7BFA1153-9B66-42A8-8A98-857AFF3018A2}" srcId="{E75BCF89-6390-4FE4-886B-4BE38BD2BAA5}" destId="{096D3413-9525-4B6D-8C21-7908E4A93474}" srcOrd="1" destOrd="0" parTransId="{18CDD7C3-FE68-4A85-A035-2626E8B7B84E}" sibTransId="{0C0FACAE-2663-417F-A0FC-6CF19A6271C5}"/>
    <dgm:cxn modelId="{09C7DA53-3DB6-4107-8946-C68C5137435E}" type="presOf" srcId="{E75BCF89-6390-4FE4-886B-4BE38BD2BAA5}" destId="{21C1A801-D796-4AF8-9DD3-4D02622121C5}" srcOrd="0" destOrd="0" presId="urn:microsoft.com/office/officeart/2016/7/layout/LinearBlockProcessNumbered"/>
    <dgm:cxn modelId="{041B0B74-3610-4A62-964F-3F8331A24A9F}" type="presOf" srcId="{0C0FACAE-2663-417F-A0FC-6CF19A6271C5}" destId="{8E0B8988-37D3-44CE-8374-E4E935C1D1D5}" srcOrd="0" destOrd="0" presId="urn:microsoft.com/office/officeart/2016/7/layout/LinearBlockProcessNumbered"/>
    <dgm:cxn modelId="{DCBDF680-BDA5-4F29-9589-CFA0F3B69732}" type="presOf" srcId="{70D66081-D5AF-4D1F-86DA-CC4ED9464155}" destId="{5D88F16F-C1D4-436B-AFDA-E89D1A399AA8}" srcOrd="0" destOrd="0" presId="urn:microsoft.com/office/officeart/2016/7/layout/LinearBlockProcessNumbered"/>
    <dgm:cxn modelId="{0A17DE95-534B-4855-84C4-EF241E99B03B}" type="presOf" srcId="{5999DFB2-8001-4BCB-9C9A-83727A9A4EC8}" destId="{98989ECB-245D-47F4-93CF-87DA56E00509}" srcOrd="0" destOrd="0" presId="urn:microsoft.com/office/officeart/2016/7/layout/LinearBlockProcessNumbered"/>
    <dgm:cxn modelId="{1E672BA0-29D5-48F3-B6FC-ADAF044F7BB7}" type="presOf" srcId="{29CD72E6-FD30-4289-BED4-6E1DE47F75BB}" destId="{9A95F1E8-3420-49D2-BA8B-B09B43985E8C}" srcOrd="1" destOrd="0" presId="urn:microsoft.com/office/officeart/2016/7/layout/LinearBlockProcessNumbered"/>
    <dgm:cxn modelId="{E0D6ADA4-53BF-479D-86A3-962038ACF690}" srcId="{E75BCF89-6390-4FE4-886B-4BE38BD2BAA5}" destId="{29CD72E6-FD30-4289-BED4-6E1DE47F75BB}" srcOrd="3" destOrd="0" parTransId="{E4CD4A41-956B-4C8A-8621-AC8E4A226FC0}" sibTransId="{5999DFB2-8001-4BCB-9C9A-83727A9A4EC8}"/>
    <dgm:cxn modelId="{8F5D24C0-38E9-486B-90E7-419D148E729C}" type="presOf" srcId="{6BB4525A-601D-4016-A588-1B1E4A397DAB}" destId="{79CCCAF3-66C8-44D6-829F-DD7B08424306}" srcOrd="0" destOrd="0" presId="urn:microsoft.com/office/officeart/2016/7/layout/LinearBlockProcessNumbered"/>
    <dgm:cxn modelId="{01FDD2D1-1A6B-4F8E-8B32-8DEBD0FD1578}" type="presOf" srcId="{0453DE62-B32A-408B-BBF6-308D0563CBA3}" destId="{5798321B-4774-49D2-9145-F469DD930DAA}" srcOrd="0" destOrd="0" presId="urn:microsoft.com/office/officeart/2016/7/layout/LinearBlockProcessNumbered"/>
    <dgm:cxn modelId="{8612A0DF-6B05-430B-B6C4-909B2A3D015A}" type="presOf" srcId="{29CD72E6-FD30-4289-BED4-6E1DE47F75BB}" destId="{CC1726B7-6DE3-43E8-BE53-281F41551E9F}" srcOrd="0" destOrd="0" presId="urn:microsoft.com/office/officeart/2016/7/layout/LinearBlockProcessNumbered"/>
    <dgm:cxn modelId="{E1455630-39C3-4D4B-8EC6-C319E7DD3CF2}" type="presParOf" srcId="{21C1A801-D796-4AF8-9DD3-4D02622121C5}" destId="{6010E8A7-CCEA-4BC6-89DE-B560D2EB3C18}" srcOrd="0" destOrd="0" presId="urn:microsoft.com/office/officeart/2016/7/layout/LinearBlockProcessNumbered"/>
    <dgm:cxn modelId="{D948525D-45B7-4D58-9015-873AE2CF3CE4}" type="presParOf" srcId="{6010E8A7-CCEA-4BC6-89DE-B560D2EB3C18}" destId="{F03F2EF4-0585-4E34-BD01-536232E87CD6}" srcOrd="0" destOrd="0" presId="urn:microsoft.com/office/officeart/2016/7/layout/LinearBlockProcessNumbered"/>
    <dgm:cxn modelId="{74B2C3B1-A04B-497B-980F-C7829F5985AA}" type="presParOf" srcId="{6010E8A7-CCEA-4BC6-89DE-B560D2EB3C18}" destId="{5D88F16F-C1D4-436B-AFDA-E89D1A399AA8}" srcOrd="1" destOrd="0" presId="urn:microsoft.com/office/officeart/2016/7/layout/LinearBlockProcessNumbered"/>
    <dgm:cxn modelId="{F50253F4-C8D7-416F-8820-1B7BB3336A4A}" type="presParOf" srcId="{6010E8A7-CCEA-4BC6-89DE-B560D2EB3C18}" destId="{139037F3-62D7-4E08-8E06-9FF351B82B10}" srcOrd="2" destOrd="0" presId="urn:microsoft.com/office/officeart/2016/7/layout/LinearBlockProcessNumbered"/>
    <dgm:cxn modelId="{DC4D63BC-178A-4059-A673-C4A20E8AAFA1}" type="presParOf" srcId="{21C1A801-D796-4AF8-9DD3-4D02622121C5}" destId="{FB8F52C2-2E7C-4ADF-A998-10E7782C8D69}" srcOrd="1" destOrd="0" presId="urn:microsoft.com/office/officeart/2016/7/layout/LinearBlockProcessNumbered"/>
    <dgm:cxn modelId="{C97859C6-BFE4-437D-AFA1-3939B499ECE6}" type="presParOf" srcId="{21C1A801-D796-4AF8-9DD3-4D02622121C5}" destId="{A1C21A82-242F-4647-9CDB-192F6896D31D}" srcOrd="2" destOrd="0" presId="urn:microsoft.com/office/officeart/2016/7/layout/LinearBlockProcessNumbered"/>
    <dgm:cxn modelId="{C0E695FF-D6E5-4535-B847-F17AC5A5E347}" type="presParOf" srcId="{A1C21A82-242F-4647-9CDB-192F6896D31D}" destId="{99F1CB79-A0A5-45AA-9EDE-12A10253D050}" srcOrd="0" destOrd="0" presId="urn:microsoft.com/office/officeart/2016/7/layout/LinearBlockProcessNumbered"/>
    <dgm:cxn modelId="{A142F4B2-6DD1-4E3D-951A-0E583574023E}" type="presParOf" srcId="{A1C21A82-242F-4647-9CDB-192F6896D31D}" destId="{8E0B8988-37D3-44CE-8374-E4E935C1D1D5}" srcOrd="1" destOrd="0" presId="urn:microsoft.com/office/officeart/2016/7/layout/LinearBlockProcessNumbered"/>
    <dgm:cxn modelId="{B6D39AFD-8C3C-4A8A-B079-B4C7A3AD169B}" type="presParOf" srcId="{A1C21A82-242F-4647-9CDB-192F6896D31D}" destId="{18A9CDBC-7542-449C-86A7-B283D52E7AB0}" srcOrd="2" destOrd="0" presId="urn:microsoft.com/office/officeart/2016/7/layout/LinearBlockProcessNumbered"/>
    <dgm:cxn modelId="{35E48877-84CE-47A1-8A5A-930FB1E8A6F8}" type="presParOf" srcId="{21C1A801-D796-4AF8-9DD3-4D02622121C5}" destId="{0EE29DD0-D2F8-4589-93E9-CDBA325683DC}" srcOrd="3" destOrd="0" presId="urn:microsoft.com/office/officeart/2016/7/layout/LinearBlockProcessNumbered"/>
    <dgm:cxn modelId="{6D8FFA8C-0705-4B90-87FA-C032CF2D3E67}" type="presParOf" srcId="{21C1A801-D796-4AF8-9DD3-4D02622121C5}" destId="{C755950A-F0B9-4628-954A-36F1AE3C0B80}" srcOrd="4" destOrd="0" presId="urn:microsoft.com/office/officeart/2016/7/layout/LinearBlockProcessNumbered"/>
    <dgm:cxn modelId="{E87BB62F-B2C1-4FCC-B76D-1E24959483FD}" type="presParOf" srcId="{C755950A-F0B9-4628-954A-36F1AE3C0B80}" destId="{5798321B-4774-49D2-9145-F469DD930DAA}" srcOrd="0" destOrd="0" presId="urn:microsoft.com/office/officeart/2016/7/layout/LinearBlockProcessNumbered"/>
    <dgm:cxn modelId="{2491D5B0-1E48-48FB-A35B-29A481FA3CCD}" type="presParOf" srcId="{C755950A-F0B9-4628-954A-36F1AE3C0B80}" destId="{79CCCAF3-66C8-44D6-829F-DD7B08424306}" srcOrd="1" destOrd="0" presId="urn:microsoft.com/office/officeart/2016/7/layout/LinearBlockProcessNumbered"/>
    <dgm:cxn modelId="{D010C133-FA39-4707-9EE2-3AF31F65CF99}" type="presParOf" srcId="{C755950A-F0B9-4628-954A-36F1AE3C0B80}" destId="{51A996EB-3FDB-4AC4-84AB-C71AD1452191}" srcOrd="2" destOrd="0" presId="urn:microsoft.com/office/officeart/2016/7/layout/LinearBlockProcessNumbered"/>
    <dgm:cxn modelId="{BC8E75BD-7C43-41A1-BA05-9A9E764349A2}" type="presParOf" srcId="{21C1A801-D796-4AF8-9DD3-4D02622121C5}" destId="{FE915E49-C92E-4723-837F-F820694935CC}" srcOrd="5" destOrd="0" presId="urn:microsoft.com/office/officeart/2016/7/layout/LinearBlockProcessNumbered"/>
    <dgm:cxn modelId="{2D39B8E4-659F-4EAA-A312-BAC89C149B5B}" type="presParOf" srcId="{21C1A801-D796-4AF8-9DD3-4D02622121C5}" destId="{D75D15B1-8C97-4D0A-8EB0-9D74ACE1BD32}" srcOrd="6" destOrd="0" presId="urn:microsoft.com/office/officeart/2016/7/layout/LinearBlockProcessNumbered"/>
    <dgm:cxn modelId="{1FAC5FD0-E3F4-454B-9738-B7DD865012C9}" type="presParOf" srcId="{D75D15B1-8C97-4D0A-8EB0-9D74ACE1BD32}" destId="{CC1726B7-6DE3-43E8-BE53-281F41551E9F}" srcOrd="0" destOrd="0" presId="urn:microsoft.com/office/officeart/2016/7/layout/LinearBlockProcessNumbered"/>
    <dgm:cxn modelId="{6D9B5D0C-63AE-44D8-B0A2-5493E2F73393}" type="presParOf" srcId="{D75D15B1-8C97-4D0A-8EB0-9D74ACE1BD32}" destId="{98989ECB-245D-47F4-93CF-87DA56E00509}" srcOrd="1" destOrd="0" presId="urn:microsoft.com/office/officeart/2016/7/layout/LinearBlockProcessNumbered"/>
    <dgm:cxn modelId="{3336AFD9-5A0D-4786-8BA0-921B7690D5CF}" type="presParOf" srcId="{D75D15B1-8C97-4D0A-8EB0-9D74ACE1BD32}" destId="{9A95F1E8-3420-49D2-BA8B-B09B43985E8C}"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017CE-F6EC-4A56-810A-906013BDB27F}">
      <dsp:nvSpPr>
        <dsp:cNvPr id="0" name=""/>
        <dsp:cNvSpPr/>
      </dsp:nvSpPr>
      <dsp:spPr>
        <a:xfrm>
          <a:off x="0" y="625579"/>
          <a:ext cx="10890928" cy="11549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9F32F7-64A6-4FDA-ACF1-E27453AF4133}">
      <dsp:nvSpPr>
        <dsp:cNvPr id="0" name=""/>
        <dsp:cNvSpPr/>
      </dsp:nvSpPr>
      <dsp:spPr>
        <a:xfrm>
          <a:off x="349362" y="885436"/>
          <a:ext cx="635204" cy="6352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BA71B9-839C-4D3A-80D3-FE8C218E00E4}">
      <dsp:nvSpPr>
        <dsp:cNvPr id="0" name=""/>
        <dsp:cNvSpPr/>
      </dsp:nvSpPr>
      <dsp:spPr>
        <a:xfrm>
          <a:off x="1333928" y="625579"/>
          <a:ext cx="9556999" cy="1154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229" tIns="122229" rIns="122229" bIns="122229" numCol="1" spcCol="1270" anchor="ctr" anchorCtr="0">
          <a:noAutofit/>
        </a:bodyPr>
        <a:lstStyle/>
        <a:p>
          <a:pPr marL="0" lvl="0" indent="0" algn="l" defTabSz="1066800">
            <a:lnSpc>
              <a:spcPct val="100000"/>
            </a:lnSpc>
            <a:spcBef>
              <a:spcPct val="0"/>
            </a:spcBef>
            <a:spcAft>
              <a:spcPct val="35000"/>
            </a:spcAft>
            <a:buNone/>
          </a:pPr>
          <a:r>
            <a:rPr lang="en-US" sz="2400" kern="1200" dirty="0">
              <a:latin typeface="Aptos Narrow" panose="020B0004020202020204" pitchFamily="34" charset="0"/>
            </a:rPr>
            <a:t>We used </a:t>
          </a:r>
          <a:r>
            <a:rPr lang="en-US" sz="2400" b="1" kern="1200" dirty="0">
              <a:latin typeface="Aptos Narrow" panose="020B0004020202020204" pitchFamily="34" charset="0"/>
            </a:rPr>
            <a:t>Wireshark</a:t>
          </a:r>
          <a:r>
            <a:rPr lang="en-US" sz="2400" kern="1200" dirty="0">
              <a:latin typeface="Aptos Narrow" panose="020B0004020202020204" pitchFamily="34" charset="0"/>
            </a:rPr>
            <a:t> to capture our PC traffic while using Zoom</a:t>
          </a:r>
          <a:r>
            <a:rPr lang="en-US" sz="2400" kern="1200" dirty="0"/>
            <a:t>. </a:t>
          </a:r>
        </a:p>
      </dsp:txBody>
      <dsp:txXfrm>
        <a:off x="1333928" y="625579"/>
        <a:ext cx="9556999" cy="1154916"/>
      </dsp:txXfrm>
    </dsp:sp>
    <dsp:sp modelId="{1320B281-94D2-40AF-BADE-CBF1FF9D078D}">
      <dsp:nvSpPr>
        <dsp:cNvPr id="0" name=""/>
        <dsp:cNvSpPr/>
      </dsp:nvSpPr>
      <dsp:spPr>
        <a:xfrm>
          <a:off x="0" y="2069225"/>
          <a:ext cx="10890928" cy="11549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F7BB18-DFFD-4BD9-B145-E51EDB13AE1C}">
      <dsp:nvSpPr>
        <dsp:cNvPr id="0" name=""/>
        <dsp:cNvSpPr/>
      </dsp:nvSpPr>
      <dsp:spPr>
        <a:xfrm>
          <a:off x="349362" y="2329081"/>
          <a:ext cx="635204" cy="6352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2CD634-CEC0-47ED-9425-9460496CF2F4}">
      <dsp:nvSpPr>
        <dsp:cNvPr id="0" name=""/>
        <dsp:cNvSpPr/>
      </dsp:nvSpPr>
      <dsp:spPr>
        <a:xfrm>
          <a:off x="1333928" y="2069225"/>
          <a:ext cx="9556999" cy="1154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229" tIns="122229" rIns="122229" bIns="122229" numCol="1" spcCol="1270" anchor="ctr" anchorCtr="0">
          <a:noAutofit/>
        </a:bodyPr>
        <a:lstStyle/>
        <a:p>
          <a:pPr marL="0" lvl="0" indent="0" algn="l" defTabSz="1066800">
            <a:lnSpc>
              <a:spcPct val="100000"/>
            </a:lnSpc>
            <a:spcBef>
              <a:spcPct val="0"/>
            </a:spcBef>
            <a:spcAft>
              <a:spcPct val="35000"/>
            </a:spcAft>
            <a:buNone/>
          </a:pPr>
          <a:r>
            <a:rPr lang="en-US" sz="2400" b="1" kern="1200" dirty="0">
              <a:latin typeface="Aptos Narrow" panose="020B0004020202020204" pitchFamily="34" charset="0"/>
            </a:rPr>
            <a:t>Wireshark</a:t>
          </a:r>
          <a:r>
            <a:rPr lang="en-US" sz="2400" kern="1200" dirty="0">
              <a:latin typeface="Aptos Narrow" panose="020B0004020202020204" pitchFamily="34" charset="0"/>
            </a:rPr>
            <a:t> is a </a:t>
          </a:r>
          <a:r>
            <a:rPr lang="en-US" sz="2400" b="1" kern="1200" dirty="0">
              <a:latin typeface="Aptos Narrow" panose="020B0004020202020204" pitchFamily="34" charset="0"/>
            </a:rPr>
            <a:t>network protocol analyzer</a:t>
          </a:r>
          <a:r>
            <a:rPr lang="en-US" sz="2400" kern="1200" dirty="0">
              <a:latin typeface="Aptos Narrow" panose="020B0004020202020204" pitchFamily="34" charset="0"/>
            </a:rPr>
            <a:t>: an opensource tool that allows you to capture and inspect in detail data packets passing through a network</a:t>
          </a:r>
          <a:r>
            <a:rPr lang="en-US" sz="2400" kern="1200" dirty="0"/>
            <a:t>. </a:t>
          </a:r>
        </a:p>
      </dsp:txBody>
      <dsp:txXfrm>
        <a:off x="1333928" y="2069225"/>
        <a:ext cx="9556999" cy="11549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3F2EF4-0585-4E34-BD01-536232E87CD6}">
      <dsp:nvSpPr>
        <dsp:cNvPr id="0" name=""/>
        <dsp:cNvSpPr/>
      </dsp:nvSpPr>
      <dsp:spPr>
        <a:xfrm>
          <a:off x="212" y="241971"/>
          <a:ext cx="2568514" cy="308221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3712" tIns="0" rIns="253712" bIns="330200" numCol="1" spcCol="1270" anchor="t" anchorCtr="0">
          <a:noAutofit/>
        </a:bodyPr>
        <a:lstStyle/>
        <a:p>
          <a:pPr marL="0" lvl="0" indent="0" algn="l" defTabSz="800100">
            <a:lnSpc>
              <a:spcPct val="90000"/>
            </a:lnSpc>
            <a:spcBef>
              <a:spcPct val="0"/>
            </a:spcBef>
            <a:spcAft>
              <a:spcPct val="35000"/>
            </a:spcAft>
            <a:buNone/>
          </a:pPr>
          <a:r>
            <a:rPr lang="it-IT" sz="1800" kern="1200" dirty="0" err="1">
              <a:latin typeface="Aptos Narrow" panose="020B0004020202020204" pitchFamily="34" charset="0"/>
            </a:rPr>
            <a:t>Packets</a:t>
          </a:r>
          <a:r>
            <a:rPr lang="it-IT" sz="1800" kern="1200" dirty="0">
              <a:latin typeface="Aptos Narrow" panose="020B0004020202020204" pitchFamily="34" charset="0"/>
            </a:rPr>
            <a:t> with </a:t>
          </a:r>
          <a:r>
            <a:rPr lang="it-IT" sz="1800" b="1" kern="1200" dirty="0" err="1">
              <a:latin typeface="Aptos Narrow" panose="020B0004020202020204" pitchFamily="34" charset="0"/>
            </a:rPr>
            <a:t>Wireguard</a:t>
          </a:r>
          <a:r>
            <a:rPr lang="it-IT" sz="1800" b="1" kern="1200" dirty="0">
              <a:latin typeface="Aptos Narrow" panose="020B0004020202020204" pitchFamily="34" charset="0"/>
            </a:rPr>
            <a:t> </a:t>
          </a:r>
          <a:r>
            <a:rPr lang="it-IT" sz="1800" b="1" kern="1200" dirty="0" err="1">
              <a:latin typeface="Aptos Narrow" panose="020B0004020202020204" pitchFamily="34" charset="0"/>
            </a:rPr>
            <a:t>Protocol</a:t>
          </a:r>
          <a:r>
            <a:rPr lang="it-IT" sz="1800" b="1" kern="1200" dirty="0">
              <a:latin typeface="Aptos Narrow" panose="020B0004020202020204" pitchFamily="34" charset="0"/>
            </a:rPr>
            <a:t> </a:t>
          </a:r>
          <a:r>
            <a:rPr lang="it-IT" sz="1800" kern="1200" dirty="0">
              <a:latin typeface="Aptos Narrow" panose="020B0004020202020204" pitchFamily="34" charset="0"/>
            </a:rPr>
            <a:t>are Zoom packages </a:t>
          </a:r>
          <a:r>
            <a:rPr lang="it-IT" sz="1800" kern="1200" dirty="0" err="1">
              <a:latin typeface="Aptos Narrow" panose="020B0004020202020204" pitchFamily="34" charset="0"/>
            </a:rPr>
            <a:t>encrypted</a:t>
          </a:r>
          <a:r>
            <a:rPr lang="it-IT" sz="1800" kern="1200" dirty="0">
              <a:latin typeface="Aptos Narrow" panose="020B0004020202020204" pitchFamily="34" charset="0"/>
            </a:rPr>
            <a:t> with </a:t>
          </a:r>
          <a:r>
            <a:rPr lang="it-IT" sz="1800" b="1" kern="1200" dirty="0">
              <a:latin typeface="Aptos Narrow" panose="020B0004020202020204" pitchFamily="34" charset="0"/>
            </a:rPr>
            <a:t>DTLS-SRTP</a:t>
          </a:r>
          <a:r>
            <a:rPr lang="it-IT" sz="1800" kern="1200" dirty="0">
              <a:latin typeface="Aptos Narrow" panose="020B0004020202020204" pitchFamily="34" charset="0"/>
            </a:rPr>
            <a:t>, for the following </a:t>
          </a:r>
          <a:r>
            <a:rPr lang="it-IT" sz="1800" kern="1200" dirty="0" err="1">
              <a:latin typeface="Aptos Narrow" panose="020B0004020202020204" pitchFamily="34" charset="0"/>
            </a:rPr>
            <a:t>reasons</a:t>
          </a:r>
          <a:r>
            <a:rPr lang="it-IT" sz="1800" kern="1200" dirty="0">
              <a:latin typeface="Aptos Narrow" panose="020B0004020202020204" pitchFamily="34" charset="0"/>
            </a:rPr>
            <a:t>:</a:t>
          </a:r>
          <a:endParaRPr lang="en-US" sz="1800" kern="1200" dirty="0">
            <a:latin typeface="Aptos Narrow" panose="020B0004020202020204" pitchFamily="34" charset="0"/>
          </a:endParaRPr>
        </a:p>
      </dsp:txBody>
      <dsp:txXfrm>
        <a:off x="212" y="1474858"/>
        <a:ext cx="2568514" cy="1849330"/>
      </dsp:txXfrm>
    </dsp:sp>
    <dsp:sp modelId="{5D88F16F-C1D4-436B-AFDA-E89D1A399AA8}">
      <dsp:nvSpPr>
        <dsp:cNvPr id="0" name=""/>
        <dsp:cNvSpPr/>
      </dsp:nvSpPr>
      <dsp:spPr>
        <a:xfrm>
          <a:off x="212" y="241971"/>
          <a:ext cx="2568514" cy="12328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3712" tIns="165100" rIns="253712" bIns="165100" numCol="1" spcCol="1270" anchor="ctr" anchorCtr="0">
          <a:noAutofit/>
        </a:bodyPr>
        <a:lstStyle/>
        <a:p>
          <a:pPr marL="0" lvl="0" indent="0" algn="l" defTabSz="2889250">
            <a:lnSpc>
              <a:spcPct val="90000"/>
            </a:lnSpc>
            <a:spcBef>
              <a:spcPct val="0"/>
            </a:spcBef>
            <a:spcAft>
              <a:spcPct val="35000"/>
            </a:spcAft>
            <a:buNone/>
          </a:pPr>
          <a:r>
            <a:rPr lang="en-US" sz="6500" kern="1200" dirty="0"/>
            <a:t>01</a:t>
          </a:r>
        </a:p>
      </dsp:txBody>
      <dsp:txXfrm>
        <a:off x="212" y="241971"/>
        <a:ext cx="2568514" cy="1232887"/>
      </dsp:txXfrm>
    </dsp:sp>
    <dsp:sp modelId="{99F1CB79-A0A5-45AA-9EDE-12A10253D050}">
      <dsp:nvSpPr>
        <dsp:cNvPr id="0" name=""/>
        <dsp:cNvSpPr/>
      </dsp:nvSpPr>
      <dsp:spPr>
        <a:xfrm>
          <a:off x="2774208" y="241971"/>
          <a:ext cx="2568514" cy="308221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3712" tIns="0" rIns="253712" bIns="330200" numCol="1" spcCol="1270" anchor="t" anchorCtr="0">
          <a:noAutofit/>
        </a:bodyPr>
        <a:lstStyle/>
        <a:p>
          <a:pPr marL="0" lvl="0" indent="0" algn="l" defTabSz="800100">
            <a:lnSpc>
              <a:spcPct val="90000"/>
            </a:lnSpc>
            <a:spcBef>
              <a:spcPct val="0"/>
            </a:spcBef>
            <a:spcAft>
              <a:spcPct val="35000"/>
            </a:spcAft>
            <a:buNone/>
          </a:pPr>
          <a:r>
            <a:rPr lang="it-IT" sz="1800" kern="1200" dirty="0" err="1">
              <a:latin typeface="Aptos Narrow" panose="020B0004020202020204" pitchFamily="34" charset="0"/>
            </a:rPr>
            <a:t>WireGuard</a:t>
          </a:r>
          <a:r>
            <a:rPr lang="it-IT" sz="1800" kern="1200" dirty="0">
              <a:latin typeface="Aptos Narrow" panose="020B0004020202020204" pitchFamily="34" charset="0"/>
            </a:rPr>
            <a:t> </a:t>
          </a:r>
          <a:r>
            <a:rPr lang="it-IT" sz="1800" kern="1200" dirty="0" err="1">
              <a:latin typeface="Aptos Narrow" panose="020B0004020202020204" pitchFamily="34" charset="0"/>
            </a:rPr>
            <a:t>uses</a:t>
          </a:r>
          <a:r>
            <a:rPr lang="it-IT" sz="1800" kern="1200" dirty="0">
              <a:latin typeface="Aptos Narrow" panose="020B0004020202020204" pitchFamily="34" charset="0"/>
            </a:rPr>
            <a:t> UDP/51820 (</a:t>
          </a:r>
          <a:r>
            <a:rPr lang="it-IT" sz="1800" kern="1200" dirty="0" err="1">
              <a:latin typeface="Aptos Narrow" panose="020B0004020202020204" pitchFamily="34" charset="0"/>
            </a:rPr>
            <a:t>not</a:t>
          </a:r>
          <a:r>
            <a:rPr lang="it-IT" sz="1800" kern="1200" dirty="0">
              <a:latin typeface="Aptos Narrow" panose="020B0004020202020204" pitchFamily="34" charset="0"/>
            </a:rPr>
            <a:t> </a:t>
          </a:r>
          <a:r>
            <a:rPr lang="it-IT" sz="1800" b="1" kern="1200" dirty="0">
              <a:latin typeface="Aptos Narrow" panose="020B0004020202020204" pitchFamily="34" charset="0"/>
            </a:rPr>
            <a:t>8801</a:t>
          </a:r>
          <a:r>
            <a:rPr lang="it-IT" sz="1800" kern="1200" dirty="0">
              <a:latin typeface="Aptos Narrow" panose="020B0004020202020204" pitchFamily="34" charset="0"/>
            </a:rPr>
            <a:t>) by default</a:t>
          </a:r>
          <a:endParaRPr lang="en-US" sz="1800" kern="1200" dirty="0">
            <a:latin typeface="Aptos Narrow" panose="020B0004020202020204" pitchFamily="34" charset="0"/>
          </a:endParaRPr>
        </a:p>
      </dsp:txBody>
      <dsp:txXfrm>
        <a:off x="2774208" y="1474858"/>
        <a:ext cx="2568514" cy="1849330"/>
      </dsp:txXfrm>
    </dsp:sp>
    <dsp:sp modelId="{8E0B8988-37D3-44CE-8374-E4E935C1D1D5}">
      <dsp:nvSpPr>
        <dsp:cNvPr id="0" name=""/>
        <dsp:cNvSpPr/>
      </dsp:nvSpPr>
      <dsp:spPr>
        <a:xfrm>
          <a:off x="2774208" y="241971"/>
          <a:ext cx="2568514" cy="12328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3712" tIns="165100" rIns="253712" bIns="165100" numCol="1" spcCol="1270" anchor="ctr" anchorCtr="0">
          <a:noAutofit/>
        </a:bodyPr>
        <a:lstStyle/>
        <a:p>
          <a:pPr marL="0" lvl="0" indent="0" algn="l" defTabSz="2889250">
            <a:lnSpc>
              <a:spcPct val="90000"/>
            </a:lnSpc>
            <a:spcBef>
              <a:spcPct val="0"/>
            </a:spcBef>
            <a:spcAft>
              <a:spcPct val="35000"/>
            </a:spcAft>
            <a:buNone/>
          </a:pPr>
          <a:r>
            <a:rPr lang="en-US" sz="6500" kern="1200"/>
            <a:t>02</a:t>
          </a:r>
        </a:p>
      </dsp:txBody>
      <dsp:txXfrm>
        <a:off x="2774208" y="241971"/>
        <a:ext cx="2568514" cy="1232887"/>
      </dsp:txXfrm>
    </dsp:sp>
    <dsp:sp modelId="{5798321B-4774-49D2-9145-F469DD930DAA}">
      <dsp:nvSpPr>
        <dsp:cNvPr id="0" name=""/>
        <dsp:cNvSpPr/>
      </dsp:nvSpPr>
      <dsp:spPr>
        <a:xfrm>
          <a:off x="5548204" y="241971"/>
          <a:ext cx="2568514" cy="308221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3712" tIns="0" rIns="253712" bIns="330200" numCol="1" spcCol="1270" anchor="t" anchorCtr="0">
          <a:noAutofit/>
        </a:bodyPr>
        <a:lstStyle/>
        <a:p>
          <a:pPr marL="0" lvl="0" indent="0" algn="l" defTabSz="800100">
            <a:lnSpc>
              <a:spcPct val="90000"/>
            </a:lnSpc>
            <a:spcBef>
              <a:spcPct val="0"/>
            </a:spcBef>
            <a:spcAft>
              <a:spcPct val="35000"/>
            </a:spcAft>
            <a:buNone/>
          </a:pPr>
          <a:r>
            <a:rPr lang="it-IT" sz="1800" kern="1200" dirty="0">
              <a:latin typeface="Aptos Narrow" panose="020B0004020202020204" pitchFamily="34" charset="0"/>
            </a:rPr>
            <a:t>In </a:t>
          </a:r>
          <a:r>
            <a:rPr lang="it-IT" sz="1800" kern="1200" dirty="0" err="1">
              <a:latin typeface="Aptos Narrow" panose="020B0004020202020204" pitchFamily="34" charset="0"/>
            </a:rPr>
            <a:t>Wireshark</a:t>
          </a:r>
          <a:r>
            <a:rPr lang="it-IT" sz="1800" kern="1200" dirty="0">
              <a:latin typeface="Aptos Narrow" panose="020B0004020202020204" pitchFamily="34" charset="0"/>
            </a:rPr>
            <a:t>, </a:t>
          </a:r>
          <a:r>
            <a:rPr lang="it-IT" sz="1800" kern="1200" dirty="0" err="1">
              <a:latin typeface="Aptos Narrow" panose="020B0004020202020204" pitchFamily="34" charset="0"/>
            </a:rPr>
            <a:t>sometimes</a:t>
          </a:r>
          <a:r>
            <a:rPr lang="it-IT" sz="1800" kern="1200" dirty="0">
              <a:latin typeface="Aptos Narrow" panose="020B0004020202020204" pitchFamily="34" charset="0"/>
            </a:rPr>
            <a:t> </a:t>
          </a:r>
          <a:r>
            <a:rPr lang="it-IT" sz="1800" b="1" kern="1200" dirty="0">
              <a:latin typeface="Aptos Narrow" panose="020B0004020202020204" pitchFamily="34" charset="0"/>
            </a:rPr>
            <a:t>DTLS/SRTP </a:t>
          </a:r>
          <a:r>
            <a:rPr lang="it-IT" sz="1800" kern="1200" dirty="0" err="1">
              <a:latin typeface="Aptos Narrow" panose="020B0004020202020204" pitchFamily="34" charset="0"/>
            </a:rPr>
            <a:t>encrypted</a:t>
          </a:r>
          <a:r>
            <a:rPr lang="it-IT" sz="1800" kern="1200" dirty="0">
              <a:latin typeface="Aptos Narrow" panose="020B0004020202020204" pitchFamily="34" charset="0"/>
            </a:rPr>
            <a:t> </a:t>
          </a:r>
          <a:r>
            <a:rPr lang="it-IT" sz="1800" kern="1200" dirty="0" err="1">
              <a:latin typeface="Aptos Narrow" panose="020B0004020202020204" pitchFamily="34" charset="0"/>
            </a:rPr>
            <a:t>packet</a:t>
          </a:r>
          <a:r>
            <a:rPr lang="it-IT" sz="1800" kern="1200" dirty="0">
              <a:latin typeface="Aptos Narrow" panose="020B0004020202020204" pitchFamily="34" charset="0"/>
            </a:rPr>
            <a:t> </a:t>
          </a:r>
          <a:r>
            <a:rPr lang="it-IT" sz="1800" b="1" kern="1200" dirty="0" err="1">
              <a:latin typeface="Aptos Narrow" panose="020B0004020202020204" pitchFamily="34" charset="0"/>
            </a:rPr>
            <a:t>headers</a:t>
          </a:r>
          <a:r>
            <a:rPr lang="it-IT" sz="1800" kern="1200" dirty="0">
              <a:latin typeface="Aptos Narrow" panose="020B0004020202020204" pitchFamily="34" charset="0"/>
            </a:rPr>
            <a:t> look like </a:t>
          </a:r>
          <a:r>
            <a:rPr lang="it-IT" sz="1800" kern="1200" dirty="0" err="1">
              <a:latin typeface="Aptos Narrow" panose="020B0004020202020204" pitchFamily="34" charset="0"/>
            </a:rPr>
            <a:t>WireGuard</a:t>
          </a:r>
          <a:r>
            <a:rPr lang="it-IT" sz="1800" kern="1200" dirty="0">
              <a:latin typeface="Aptos Narrow" panose="020B0004020202020204" pitchFamily="34" charset="0"/>
            </a:rPr>
            <a:t>, so </a:t>
          </a:r>
          <a:r>
            <a:rPr lang="it-IT" sz="1800" kern="1200" dirty="0" err="1">
              <a:latin typeface="Aptos Narrow" panose="020B0004020202020204" pitchFamily="34" charset="0"/>
            </a:rPr>
            <a:t>incorrect</a:t>
          </a:r>
          <a:r>
            <a:rPr lang="it-IT" sz="1800" kern="1200" dirty="0">
              <a:latin typeface="Aptos Narrow" panose="020B0004020202020204" pitchFamily="34" charset="0"/>
            </a:rPr>
            <a:t> </a:t>
          </a:r>
          <a:r>
            <a:rPr lang="it-IT" sz="1800" kern="1200" dirty="0" err="1">
              <a:latin typeface="Aptos Narrow" panose="020B0004020202020204" pitchFamily="34" charset="0"/>
            </a:rPr>
            <a:t>labeling</a:t>
          </a:r>
          <a:endParaRPr lang="en-US" sz="1800" kern="1200" dirty="0">
            <a:latin typeface="Aptos Narrow" panose="020B0004020202020204" pitchFamily="34" charset="0"/>
          </a:endParaRPr>
        </a:p>
      </dsp:txBody>
      <dsp:txXfrm>
        <a:off x="5548204" y="1474858"/>
        <a:ext cx="2568514" cy="1849330"/>
      </dsp:txXfrm>
    </dsp:sp>
    <dsp:sp modelId="{79CCCAF3-66C8-44D6-829F-DD7B08424306}">
      <dsp:nvSpPr>
        <dsp:cNvPr id="0" name=""/>
        <dsp:cNvSpPr/>
      </dsp:nvSpPr>
      <dsp:spPr>
        <a:xfrm>
          <a:off x="5548204" y="241971"/>
          <a:ext cx="2568514" cy="12328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3712" tIns="165100" rIns="253712" bIns="165100" numCol="1" spcCol="1270" anchor="ctr" anchorCtr="0">
          <a:noAutofit/>
        </a:bodyPr>
        <a:lstStyle/>
        <a:p>
          <a:pPr marL="0" lvl="0" indent="0" algn="l" defTabSz="2889250">
            <a:lnSpc>
              <a:spcPct val="90000"/>
            </a:lnSpc>
            <a:spcBef>
              <a:spcPct val="0"/>
            </a:spcBef>
            <a:spcAft>
              <a:spcPct val="35000"/>
            </a:spcAft>
            <a:buNone/>
          </a:pPr>
          <a:r>
            <a:rPr lang="en-US" sz="6500" kern="1200"/>
            <a:t>03</a:t>
          </a:r>
          <a:endParaRPr lang="en-US" sz="6500" kern="1200" dirty="0"/>
        </a:p>
      </dsp:txBody>
      <dsp:txXfrm>
        <a:off x="5548204" y="241971"/>
        <a:ext cx="2568514" cy="1232887"/>
      </dsp:txXfrm>
    </dsp:sp>
    <dsp:sp modelId="{CC1726B7-6DE3-43E8-BE53-281F41551E9F}">
      <dsp:nvSpPr>
        <dsp:cNvPr id="0" name=""/>
        <dsp:cNvSpPr/>
      </dsp:nvSpPr>
      <dsp:spPr>
        <a:xfrm>
          <a:off x="8322200" y="241971"/>
          <a:ext cx="2568514" cy="308221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3712" tIns="0" rIns="253712" bIns="330200" numCol="1" spcCol="1270" anchor="t" anchorCtr="0">
          <a:noAutofit/>
        </a:bodyPr>
        <a:lstStyle/>
        <a:p>
          <a:pPr marL="0" lvl="0" indent="0" algn="l" defTabSz="800100">
            <a:lnSpc>
              <a:spcPct val="90000"/>
            </a:lnSpc>
            <a:spcBef>
              <a:spcPct val="0"/>
            </a:spcBef>
            <a:spcAft>
              <a:spcPct val="35000"/>
            </a:spcAft>
            <a:buNone/>
          </a:pPr>
          <a:r>
            <a:rPr lang="it-IT" sz="1800" kern="1200" dirty="0">
              <a:latin typeface="Aptos Narrow" panose="020B0004020202020204" pitchFamily="34" charset="0"/>
            </a:rPr>
            <a:t>IP </a:t>
          </a:r>
          <a:r>
            <a:rPr lang="it-IT" sz="1800" b="1" kern="1200" dirty="0">
              <a:latin typeface="Aptos Narrow" panose="020B0004020202020204" pitchFamily="34" charset="0"/>
            </a:rPr>
            <a:t>206.247.42.42</a:t>
          </a:r>
          <a:r>
            <a:rPr lang="it-IT" sz="1800" kern="1200" dirty="0">
              <a:latin typeface="Aptos Narrow" panose="020B0004020202020204" pitchFamily="34" charset="0"/>
            </a:rPr>
            <a:t> </a:t>
          </a:r>
          <a:r>
            <a:rPr lang="it-IT" sz="1800" kern="1200" dirty="0" err="1">
              <a:latin typeface="Aptos Narrow" panose="020B0004020202020204" pitchFamily="34" charset="0"/>
            </a:rPr>
            <a:t>belongs</a:t>
          </a:r>
          <a:r>
            <a:rPr lang="it-IT" sz="1800" kern="1200" dirty="0">
              <a:latin typeface="Aptos Narrow" panose="020B0004020202020204" pitchFamily="34" charset="0"/>
            </a:rPr>
            <a:t> to a </a:t>
          </a:r>
          <a:r>
            <a:rPr lang="it-IT" sz="1800" kern="1200" dirty="0" err="1">
              <a:latin typeface="Aptos Narrow" panose="020B0004020202020204" pitchFamily="34" charset="0"/>
            </a:rPr>
            <a:t>block</a:t>
          </a:r>
          <a:r>
            <a:rPr lang="it-IT" sz="1800" kern="1200" dirty="0">
              <a:latin typeface="Aptos Narrow" panose="020B0004020202020204" pitchFamily="34" charset="0"/>
            </a:rPr>
            <a:t> </a:t>
          </a:r>
          <a:r>
            <a:rPr lang="it-IT" sz="1800" kern="1200" dirty="0" err="1">
              <a:latin typeface="Aptos Narrow" panose="020B0004020202020204" pitchFamily="34" charset="0"/>
            </a:rPr>
            <a:t>used</a:t>
          </a:r>
          <a:r>
            <a:rPr lang="it-IT" sz="1800" kern="1200" dirty="0">
              <a:latin typeface="Aptos Narrow" panose="020B0004020202020204" pitchFamily="34" charset="0"/>
            </a:rPr>
            <a:t> by Zoom for </a:t>
          </a:r>
          <a:r>
            <a:rPr lang="it-IT" sz="1800" b="1" kern="1200" dirty="0">
              <a:latin typeface="Aptos Narrow" panose="020B0004020202020204" pitchFamily="34" charset="0"/>
            </a:rPr>
            <a:t>media servers</a:t>
          </a:r>
          <a:r>
            <a:rPr lang="it-IT" sz="1800" kern="1200" dirty="0">
              <a:latin typeface="Aptos Narrow" panose="020B0004020202020204" pitchFamily="34" charset="0"/>
            </a:rPr>
            <a:t>, </a:t>
          </a:r>
          <a:r>
            <a:rPr lang="it-IT" sz="1800" u="sng" kern="1200" dirty="0" err="1">
              <a:latin typeface="Aptos Narrow" panose="020B0004020202020204" pitchFamily="34" charset="0"/>
            </a:rPr>
            <a:t>not</a:t>
          </a:r>
          <a:r>
            <a:rPr lang="it-IT" sz="1800" kern="1200" dirty="0">
              <a:latin typeface="Aptos Narrow" panose="020B0004020202020204" pitchFamily="34" charset="0"/>
            </a:rPr>
            <a:t> a </a:t>
          </a:r>
          <a:r>
            <a:rPr lang="it-IT" sz="1800" b="0" kern="1200" dirty="0">
              <a:latin typeface="Aptos Narrow" panose="020B0004020202020204" pitchFamily="34" charset="0"/>
            </a:rPr>
            <a:t>VPN provider</a:t>
          </a:r>
          <a:endParaRPr lang="en-US" sz="1800" b="0" kern="1200" dirty="0">
            <a:latin typeface="Aptos Narrow" panose="020B0004020202020204" pitchFamily="34" charset="0"/>
          </a:endParaRPr>
        </a:p>
      </dsp:txBody>
      <dsp:txXfrm>
        <a:off x="8322200" y="1474858"/>
        <a:ext cx="2568514" cy="1849330"/>
      </dsp:txXfrm>
    </dsp:sp>
    <dsp:sp modelId="{98989ECB-245D-47F4-93CF-87DA56E00509}">
      <dsp:nvSpPr>
        <dsp:cNvPr id="0" name=""/>
        <dsp:cNvSpPr/>
      </dsp:nvSpPr>
      <dsp:spPr>
        <a:xfrm>
          <a:off x="8322200" y="241971"/>
          <a:ext cx="2568514" cy="123288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3712" tIns="165100" rIns="253712" bIns="165100" numCol="1" spcCol="1270" anchor="ctr" anchorCtr="0">
          <a:noAutofit/>
        </a:bodyPr>
        <a:lstStyle/>
        <a:p>
          <a:pPr marL="0" lvl="0" indent="0" algn="l" defTabSz="2889250">
            <a:lnSpc>
              <a:spcPct val="90000"/>
            </a:lnSpc>
            <a:spcBef>
              <a:spcPct val="0"/>
            </a:spcBef>
            <a:spcAft>
              <a:spcPct val="35000"/>
            </a:spcAft>
            <a:buNone/>
          </a:pPr>
          <a:r>
            <a:rPr lang="en-US" sz="6500" kern="1200"/>
            <a:t>04</a:t>
          </a:r>
        </a:p>
      </dsp:txBody>
      <dsp:txXfrm>
        <a:off x="8322200" y="241971"/>
        <a:ext cx="2568514" cy="123288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9/16/2025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166827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9/16/2025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568650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9/16/2025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‹N›</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6133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9/16/2025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4017170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9/16/2025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889388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9/16/2025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970902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9/16/2025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015347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9/16/2025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751417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9/16/2025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757221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9/16/2025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399924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9/16/2025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‹N›</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9152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9/16/2025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‹N›</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2139575"/>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2.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a:extLst>
              <a:ext uri="{FF2B5EF4-FFF2-40B4-BE49-F238E27FC236}">
                <a16:creationId xmlns:a16="http://schemas.microsoft.com/office/drawing/2014/main" id="{704CA127-50AB-DB4D-8FEE-4606D8B40314}"/>
              </a:ext>
            </a:extLst>
          </p:cNvPr>
          <p:cNvPicPr>
            <a:picLocks noChangeAspect="1"/>
          </p:cNvPicPr>
          <p:nvPr/>
        </p:nvPicPr>
        <p:blipFill>
          <a:blip r:embed="rId2">
            <a:alphaModFix amt="40000"/>
          </a:blip>
          <a:srcRect t="24987" b="18764"/>
          <a:stretch>
            <a:fillRect/>
          </a:stretch>
        </p:blipFill>
        <p:spPr>
          <a:xfrm>
            <a:off x="20" y="152"/>
            <a:ext cx="12191980" cy="6857848"/>
          </a:xfrm>
          <a:prstGeom prst="rect">
            <a:avLst/>
          </a:prstGeom>
        </p:spPr>
      </p:pic>
      <p:sp>
        <p:nvSpPr>
          <p:cNvPr id="2" name="Titolo 1">
            <a:extLst>
              <a:ext uri="{FF2B5EF4-FFF2-40B4-BE49-F238E27FC236}">
                <a16:creationId xmlns:a16="http://schemas.microsoft.com/office/drawing/2014/main" id="{5173404D-18A5-5300-00CD-ED84A4205CFD}"/>
              </a:ext>
            </a:extLst>
          </p:cNvPr>
          <p:cNvSpPr>
            <a:spLocks noGrp="1"/>
          </p:cNvSpPr>
          <p:nvPr>
            <p:ph type="ctrTitle"/>
          </p:nvPr>
        </p:nvSpPr>
        <p:spPr>
          <a:xfrm>
            <a:off x="640080" y="2683509"/>
            <a:ext cx="6096000" cy="2200418"/>
          </a:xfrm>
        </p:spPr>
        <p:txBody>
          <a:bodyPr vert="horz" lIns="91440" tIns="45720" rIns="91440" bIns="45720" rtlCol="0" anchor="t">
            <a:normAutofit fontScale="90000"/>
          </a:bodyPr>
          <a:lstStyle/>
          <a:p>
            <a:pPr>
              <a:lnSpc>
                <a:spcPct val="90000"/>
              </a:lnSpc>
            </a:pPr>
            <a:r>
              <a:rPr lang="en-US" sz="4700" b="0" dirty="0">
                <a:solidFill>
                  <a:srgbClr val="FFFFFF"/>
                </a:solidFill>
                <a:latin typeface="Aptos Narrow" panose="020B0004020202020204" pitchFamily="34" charset="0"/>
              </a:rPr>
              <a:t>inspect network traffic when using the ZOOM app</a:t>
            </a:r>
            <a:br>
              <a:rPr lang="en-US" sz="4700" b="0" kern="1200" dirty="0">
                <a:solidFill>
                  <a:srgbClr val="FFFFFF"/>
                </a:solidFill>
                <a:latin typeface="Aptos Narrow" panose="020B0004020202020204" pitchFamily="34" charset="0"/>
              </a:rPr>
            </a:br>
            <a:endParaRPr lang="en-US" sz="4700" b="0" kern="1200" dirty="0">
              <a:solidFill>
                <a:srgbClr val="FFFFFF"/>
              </a:solidFill>
              <a:latin typeface="Aptos Narrow" panose="020B0004020202020204" pitchFamily="34" charset="0"/>
            </a:endParaRPr>
          </a:p>
        </p:txBody>
      </p:sp>
      <p:sp>
        <p:nvSpPr>
          <p:cNvPr id="6" name="CasellaDiTesto 5">
            <a:extLst>
              <a:ext uri="{FF2B5EF4-FFF2-40B4-BE49-F238E27FC236}">
                <a16:creationId xmlns:a16="http://schemas.microsoft.com/office/drawing/2014/main" id="{75F682C9-867F-6BC3-FB03-084EF76B9584}"/>
              </a:ext>
            </a:extLst>
          </p:cNvPr>
          <p:cNvSpPr txBox="1"/>
          <p:nvPr/>
        </p:nvSpPr>
        <p:spPr>
          <a:xfrm>
            <a:off x="640080" y="5251621"/>
            <a:ext cx="4439920" cy="1104721"/>
          </a:xfrm>
          <a:prstGeom prst="rect">
            <a:avLst/>
          </a:prstGeom>
        </p:spPr>
        <p:txBody>
          <a:bodyPr vert="horz" lIns="91440" tIns="45720" rIns="91440" bIns="45720" rtlCol="0" anchor="t">
            <a:normAutofit/>
          </a:bodyPr>
          <a:lstStyle/>
          <a:p>
            <a:pPr>
              <a:lnSpc>
                <a:spcPct val="130000"/>
              </a:lnSpc>
              <a:spcBef>
                <a:spcPts val="1000"/>
              </a:spcBef>
              <a:buSzPct val="87000"/>
            </a:pPr>
            <a:r>
              <a:rPr lang="en-US" b="1" cap="all" spc="300" dirty="0">
                <a:solidFill>
                  <a:srgbClr val="FFFFFF"/>
                </a:solidFill>
                <a:latin typeface="Aptos Narrow" panose="020B0004020202020204" pitchFamily="34" charset="0"/>
              </a:rPr>
              <a:t>COURSE: Advanced Internet Technologies</a:t>
            </a:r>
          </a:p>
        </p:txBody>
      </p:sp>
      <p:cxnSp>
        <p:nvCxnSpPr>
          <p:cNvPr id="19" name="Straight Connector 18">
            <a:extLst>
              <a:ext uri="{FF2B5EF4-FFF2-40B4-BE49-F238E27FC236}">
                <a16:creationId xmlns:a16="http://schemas.microsoft.com/office/drawing/2014/main" id="{F0CE0765-E93C-4D37-9D5F-D464EFB10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95436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7" name="CasellaDiTesto 6">
            <a:extLst>
              <a:ext uri="{FF2B5EF4-FFF2-40B4-BE49-F238E27FC236}">
                <a16:creationId xmlns:a16="http://schemas.microsoft.com/office/drawing/2014/main" id="{C84124E2-7000-2C7D-0B47-A1489AF86E88}"/>
              </a:ext>
            </a:extLst>
          </p:cNvPr>
          <p:cNvSpPr txBox="1"/>
          <p:nvPr/>
        </p:nvSpPr>
        <p:spPr>
          <a:xfrm>
            <a:off x="0" y="334603"/>
            <a:ext cx="12192000" cy="723275"/>
          </a:xfrm>
          <a:prstGeom prst="rect">
            <a:avLst/>
          </a:prstGeom>
          <a:noFill/>
        </p:spPr>
        <p:txBody>
          <a:bodyPr wrap="square" rtlCol="0">
            <a:spAutoFit/>
          </a:bodyPr>
          <a:lstStyle/>
          <a:p>
            <a:pPr algn="ctr">
              <a:spcAft>
                <a:spcPts val="600"/>
              </a:spcAft>
            </a:pPr>
            <a:r>
              <a:rPr lang="en-US" dirty="0">
                <a:latin typeface="Aptos Narrow" panose="020B0004020202020204" pitchFamily="34" charset="0"/>
              </a:rPr>
              <a:t>University of Trieste: Department of Engineering and Architecture</a:t>
            </a:r>
          </a:p>
          <a:p>
            <a:pPr algn="ctr">
              <a:spcAft>
                <a:spcPts val="600"/>
              </a:spcAft>
            </a:pPr>
            <a:endParaRPr lang="it-IT" dirty="0">
              <a:latin typeface="Aptos Narrow" panose="020B0004020202020204" pitchFamily="34" charset="0"/>
            </a:endParaRPr>
          </a:p>
        </p:txBody>
      </p:sp>
      <p:sp>
        <p:nvSpPr>
          <p:cNvPr id="10" name="CasellaDiTesto 9">
            <a:extLst>
              <a:ext uri="{FF2B5EF4-FFF2-40B4-BE49-F238E27FC236}">
                <a16:creationId xmlns:a16="http://schemas.microsoft.com/office/drawing/2014/main" id="{6DCD7EE0-D21A-C2B4-E1A4-5D6A5486A85A}"/>
              </a:ext>
            </a:extLst>
          </p:cNvPr>
          <p:cNvSpPr txBox="1"/>
          <p:nvPr/>
        </p:nvSpPr>
        <p:spPr>
          <a:xfrm>
            <a:off x="6096000" y="5619315"/>
            <a:ext cx="6096000" cy="369332"/>
          </a:xfrm>
          <a:prstGeom prst="rect">
            <a:avLst/>
          </a:prstGeom>
          <a:noFill/>
        </p:spPr>
        <p:txBody>
          <a:bodyPr wrap="square">
            <a:spAutoFit/>
          </a:bodyPr>
          <a:lstStyle/>
          <a:p>
            <a:pPr algn="ctr">
              <a:spcAft>
                <a:spcPts val="600"/>
              </a:spcAft>
            </a:pPr>
            <a:r>
              <a:rPr lang="it-IT" dirty="0">
                <a:latin typeface="Aptos Narrow" panose="020B0004020202020204" pitchFamily="34" charset="0"/>
              </a:rPr>
              <a:t>Project </a:t>
            </a:r>
            <a:r>
              <a:rPr lang="it-IT" dirty="0" err="1">
                <a:latin typeface="Aptos Narrow" panose="020B0004020202020204" pitchFamily="34" charset="0"/>
              </a:rPr>
              <a:t>carried</a:t>
            </a:r>
            <a:r>
              <a:rPr lang="it-IT" dirty="0">
                <a:latin typeface="Aptos Narrow" panose="020B0004020202020204" pitchFamily="34" charset="0"/>
              </a:rPr>
              <a:t> out by : Di Santo Alessandro</a:t>
            </a:r>
          </a:p>
        </p:txBody>
      </p:sp>
      <p:sp>
        <p:nvSpPr>
          <p:cNvPr id="12" name="CasellaDiTesto 11">
            <a:extLst>
              <a:ext uri="{FF2B5EF4-FFF2-40B4-BE49-F238E27FC236}">
                <a16:creationId xmlns:a16="http://schemas.microsoft.com/office/drawing/2014/main" id="{48D814D2-4671-9329-B12B-648C5BBB5B48}"/>
              </a:ext>
            </a:extLst>
          </p:cNvPr>
          <p:cNvSpPr txBox="1"/>
          <p:nvPr/>
        </p:nvSpPr>
        <p:spPr>
          <a:xfrm>
            <a:off x="6096000" y="5251621"/>
            <a:ext cx="6096000" cy="369332"/>
          </a:xfrm>
          <a:prstGeom prst="rect">
            <a:avLst/>
          </a:prstGeom>
          <a:noFill/>
        </p:spPr>
        <p:txBody>
          <a:bodyPr wrap="square">
            <a:spAutoFit/>
          </a:bodyPr>
          <a:lstStyle/>
          <a:p>
            <a:pPr algn="ctr">
              <a:spcAft>
                <a:spcPts val="600"/>
              </a:spcAft>
            </a:pPr>
            <a:r>
              <a:rPr lang="it-IT" dirty="0">
                <a:latin typeface="Aptos Narrow" panose="020B0004020202020204" pitchFamily="34" charset="0"/>
              </a:rPr>
              <a:t>Professor: Trevisan Martino</a:t>
            </a:r>
          </a:p>
        </p:txBody>
      </p:sp>
      <p:sp>
        <p:nvSpPr>
          <p:cNvPr id="18" name="Rettangolo 17">
            <a:extLst>
              <a:ext uri="{FF2B5EF4-FFF2-40B4-BE49-F238E27FC236}">
                <a16:creationId xmlns:a16="http://schemas.microsoft.com/office/drawing/2014/main" id="{69D1BD31-03D7-EDCE-BC09-A355B4067FFD}"/>
              </a:ext>
            </a:extLst>
          </p:cNvPr>
          <p:cNvSpPr/>
          <p:nvPr/>
        </p:nvSpPr>
        <p:spPr>
          <a:xfrm>
            <a:off x="640080" y="1149888"/>
            <a:ext cx="8916875" cy="1323439"/>
          </a:xfrm>
          <a:prstGeom prst="rect">
            <a:avLst/>
          </a:prstGeom>
          <a:noFill/>
        </p:spPr>
        <p:txBody>
          <a:bodyPr wrap="square" lIns="91440" tIns="45720" rIns="91440" bIns="45720">
            <a:spAutoFit/>
          </a:bodyPr>
          <a:lstStyle/>
          <a:p>
            <a:r>
              <a:rPr lang="en-US" sz="8000" b="1" kern="1200" cap="none" spc="0" dirty="0">
                <a:ln w="0"/>
                <a:solidFill>
                  <a:schemeClr val="tx1"/>
                </a:solidFill>
                <a:effectLst>
                  <a:outerShdw blurRad="38100" dist="19050" dir="2700000" algn="tl" rotWithShape="0">
                    <a:schemeClr val="dk1">
                      <a:alpha val="40000"/>
                    </a:schemeClr>
                  </a:outerShdw>
                </a:effectLst>
                <a:latin typeface="Aptos Narrow" panose="020B0004020202020204" pitchFamily="34" charset="0"/>
              </a:rPr>
              <a:t>ZOOM</a:t>
            </a:r>
            <a:endParaRPr lang="it-IT" sz="80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05899110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3A041DA-85D4-6D55-D5B9-C977F58386AA}"/>
              </a:ext>
            </a:extLst>
          </p:cNvPr>
          <p:cNvSpPr>
            <a:spLocks noGrp="1"/>
          </p:cNvSpPr>
          <p:nvPr>
            <p:ph type="title"/>
          </p:nvPr>
        </p:nvSpPr>
        <p:spPr>
          <a:xfrm>
            <a:off x="5496821" y="1371600"/>
            <a:ext cx="6034187" cy="1097280"/>
          </a:xfrm>
        </p:spPr>
        <p:txBody>
          <a:bodyPr>
            <a:normAutofit/>
          </a:bodyPr>
          <a:lstStyle/>
          <a:p>
            <a:r>
              <a:rPr lang="it-IT" b="0" dirty="0">
                <a:latin typeface="Aptos Narrow" panose="020B0004020202020204" pitchFamily="34" charset="0"/>
              </a:rPr>
              <a:t>INTRODUCTION</a:t>
            </a:r>
          </a:p>
        </p:txBody>
      </p:sp>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1B07D040-CD2B-58C2-11A0-93B1F217840A}"/>
              </a:ext>
            </a:extLst>
          </p:cNvPr>
          <p:cNvSpPr>
            <a:spLocks noGrp="1"/>
          </p:cNvSpPr>
          <p:nvPr>
            <p:ph idx="1"/>
          </p:nvPr>
        </p:nvSpPr>
        <p:spPr>
          <a:xfrm>
            <a:off x="5496821" y="2633236"/>
            <a:ext cx="6034187" cy="3664687"/>
          </a:xfrm>
        </p:spPr>
        <p:txBody>
          <a:bodyPr>
            <a:normAutofit/>
          </a:bodyPr>
          <a:lstStyle/>
          <a:p>
            <a:pPr marL="0" indent="0">
              <a:buNone/>
            </a:pPr>
            <a:r>
              <a:rPr lang="en-US" b="1" dirty="0">
                <a:latin typeface="Aptos Narrow" panose="020B0004020202020204" pitchFamily="34" charset="0"/>
              </a:rPr>
              <a:t>Zoom</a:t>
            </a:r>
            <a:r>
              <a:rPr lang="en-US" dirty="0">
                <a:latin typeface="Aptos Narrow" panose="020B0004020202020204" pitchFamily="34" charset="0"/>
              </a:rPr>
              <a:t> is a </a:t>
            </a:r>
            <a:r>
              <a:rPr lang="en-US" b="1" dirty="0">
                <a:latin typeface="Aptos Narrow" panose="020B0004020202020204" pitchFamily="34" charset="0"/>
              </a:rPr>
              <a:t>digital communication platform </a:t>
            </a:r>
            <a:r>
              <a:rPr lang="en-US" dirty="0">
                <a:latin typeface="Aptos Narrow" panose="020B0004020202020204" pitchFamily="34" charset="0"/>
              </a:rPr>
              <a:t>that allows you to make video conferences, audio calls, chats and webinars in real time. </a:t>
            </a:r>
          </a:p>
          <a:p>
            <a:pPr marL="0" indent="0">
              <a:buNone/>
            </a:pPr>
            <a:r>
              <a:rPr lang="en-US" dirty="0">
                <a:latin typeface="Aptos Narrow" panose="020B0004020202020204" pitchFamily="34" charset="0"/>
              </a:rPr>
              <a:t>It was developed by the </a:t>
            </a:r>
            <a:r>
              <a:rPr lang="en-US" b="1" dirty="0">
                <a:latin typeface="Aptos Narrow" panose="020B0004020202020204" pitchFamily="34" charset="0"/>
              </a:rPr>
              <a:t>Zoom Video Communications </a:t>
            </a:r>
            <a:r>
              <a:rPr lang="en-US" dirty="0">
                <a:latin typeface="Aptos Narrow" panose="020B0004020202020204" pitchFamily="34" charset="0"/>
              </a:rPr>
              <a:t>company in 2011 and has experienced exponential growth especially since 2020, becoming one of the most used tools globally for work, teaching and personal remote interactions.</a:t>
            </a:r>
          </a:p>
          <a:p>
            <a:pPr marL="0" indent="0">
              <a:buNone/>
            </a:pPr>
            <a:endParaRPr lang="it-IT" dirty="0"/>
          </a:p>
        </p:txBody>
      </p:sp>
      <p:pic>
        <p:nvPicPr>
          <p:cNvPr id="1034" name="Picture 10" descr="Come scaricare Zoom sul cellulare | Salvatore Aranzulla">
            <a:extLst>
              <a:ext uri="{FF2B5EF4-FFF2-40B4-BE49-F238E27FC236}">
                <a16:creationId xmlns:a16="http://schemas.microsoft.com/office/drawing/2014/main" id="{4BAA695B-0C90-E8DD-44BB-1F1A319012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871697" y="871695"/>
            <a:ext cx="6858001" cy="5114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5512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DF820487-12AD-9B50-C92D-45F27B3DDAB5}"/>
              </a:ext>
            </a:extLst>
          </p:cNvPr>
          <p:cNvSpPr>
            <a:spLocks noGrp="1"/>
          </p:cNvSpPr>
          <p:nvPr>
            <p:ph type="title"/>
          </p:nvPr>
        </p:nvSpPr>
        <p:spPr>
          <a:xfrm>
            <a:off x="640080" y="1371600"/>
            <a:ext cx="5737859" cy="1097280"/>
          </a:xfrm>
        </p:spPr>
        <p:txBody>
          <a:bodyPr>
            <a:normAutofit/>
          </a:bodyPr>
          <a:lstStyle/>
          <a:p>
            <a:r>
              <a:rPr lang="it-IT" b="0">
                <a:latin typeface="Aptos Narrow" panose="020B0004020202020204" pitchFamily="34" charset="0"/>
              </a:rPr>
              <a:t>BENEFITS AND USE CASES</a:t>
            </a:r>
            <a:endParaRPr lang="it-IT" b="0" dirty="0">
              <a:latin typeface="Aptos Narrow" panose="020B0004020202020204" pitchFamily="34" charset="0"/>
            </a:endParaRPr>
          </a:p>
        </p:txBody>
      </p:sp>
      <p:cxnSp>
        <p:nvCxnSpPr>
          <p:cNvPr id="15"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282C8913-701A-C5DC-7927-C2C7E121EF3B}"/>
              </a:ext>
            </a:extLst>
          </p:cNvPr>
          <p:cNvSpPr>
            <a:spLocks noGrp="1"/>
          </p:cNvSpPr>
          <p:nvPr>
            <p:ph idx="1"/>
          </p:nvPr>
        </p:nvSpPr>
        <p:spPr>
          <a:xfrm>
            <a:off x="640079" y="2402602"/>
            <a:ext cx="6515099" cy="3897614"/>
          </a:xfrm>
        </p:spPr>
        <p:txBody>
          <a:bodyPr>
            <a:normAutofit fontScale="70000" lnSpcReduction="20000"/>
          </a:bodyPr>
          <a:lstStyle/>
          <a:p>
            <a:pPr marL="0" indent="0">
              <a:lnSpc>
                <a:spcPct val="110000"/>
              </a:lnSpc>
              <a:buNone/>
            </a:pPr>
            <a:r>
              <a:rPr lang="en-US" b="1" u="sng" dirty="0">
                <a:latin typeface="Aptos Narrow" panose="020B0004020202020204" pitchFamily="34" charset="0"/>
              </a:rPr>
              <a:t>Advantages</a:t>
            </a:r>
          </a:p>
          <a:p>
            <a:pPr>
              <a:lnSpc>
                <a:spcPct val="110000"/>
              </a:lnSpc>
            </a:pPr>
            <a:r>
              <a:rPr lang="en-US" b="1" dirty="0">
                <a:latin typeface="Aptos Narrow" panose="020B0004020202020204" pitchFamily="34" charset="0"/>
              </a:rPr>
              <a:t>Ease of use</a:t>
            </a:r>
            <a:r>
              <a:rPr lang="en-US" dirty="0">
                <a:latin typeface="Aptos Narrow" panose="020B0004020202020204" pitchFamily="34" charset="0"/>
              </a:rPr>
              <a:t>: intuitive interface, quick access via links.</a:t>
            </a:r>
          </a:p>
          <a:p>
            <a:pPr>
              <a:lnSpc>
                <a:spcPct val="110000"/>
              </a:lnSpc>
            </a:pPr>
            <a:r>
              <a:rPr lang="en-US" b="1" dirty="0">
                <a:latin typeface="Aptos Narrow" panose="020B0004020202020204" pitchFamily="34" charset="0"/>
              </a:rPr>
              <a:t>Scalability</a:t>
            </a:r>
            <a:r>
              <a:rPr lang="en-US" dirty="0">
                <a:latin typeface="Aptos Narrow" panose="020B0004020202020204" pitchFamily="34" charset="0"/>
              </a:rPr>
              <a:t>: suitable for both small meetings and large events.</a:t>
            </a:r>
          </a:p>
          <a:p>
            <a:pPr>
              <a:lnSpc>
                <a:spcPct val="110000"/>
              </a:lnSpc>
            </a:pPr>
            <a:r>
              <a:rPr lang="en-US" b="1" dirty="0">
                <a:latin typeface="Aptos Narrow" panose="020B0004020202020204" pitchFamily="34" charset="0"/>
              </a:rPr>
              <a:t>Versatility</a:t>
            </a:r>
            <a:r>
              <a:rPr lang="en-US" dirty="0">
                <a:latin typeface="Aptos Narrow" panose="020B0004020202020204" pitchFamily="34" charset="0"/>
              </a:rPr>
              <a:t>: useful for companies, schools, universities, public and private bodies.</a:t>
            </a:r>
          </a:p>
          <a:p>
            <a:pPr>
              <a:lnSpc>
                <a:spcPct val="110000"/>
              </a:lnSpc>
            </a:pPr>
            <a:r>
              <a:rPr lang="en-US" b="1" dirty="0">
                <a:latin typeface="Aptos Narrow" panose="020B0004020202020204" pitchFamily="34" charset="0"/>
              </a:rPr>
              <a:t>Accessibility</a:t>
            </a:r>
            <a:r>
              <a:rPr lang="en-US" dirty="0">
                <a:latin typeface="Aptos Narrow" panose="020B0004020202020204" pitchFamily="34" charset="0"/>
              </a:rPr>
              <a:t>: doesn't necessarily require an account to join a meeting.</a:t>
            </a:r>
          </a:p>
          <a:p>
            <a:pPr marL="0" indent="0">
              <a:lnSpc>
                <a:spcPct val="110000"/>
              </a:lnSpc>
              <a:buNone/>
            </a:pPr>
            <a:endParaRPr lang="en-US" dirty="0">
              <a:latin typeface="Aptos Narrow" panose="020B0004020202020204" pitchFamily="34" charset="0"/>
            </a:endParaRPr>
          </a:p>
          <a:p>
            <a:pPr marL="0" indent="0">
              <a:lnSpc>
                <a:spcPct val="110000"/>
              </a:lnSpc>
              <a:buNone/>
            </a:pPr>
            <a:r>
              <a:rPr lang="en-US" b="1" u="sng" dirty="0">
                <a:latin typeface="Aptos Narrow" panose="020B0004020202020204" pitchFamily="34" charset="0"/>
              </a:rPr>
              <a:t>Contexts for use</a:t>
            </a:r>
          </a:p>
          <a:p>
            <a:pPr>
              <a:lnSpc>
                <a:spcPct val="110000"/>
              </a:lnSpc>
            </a:pPr>
            <a:r>
              <a:rPr lang="en-US" b="1" dirty="0">
                <a:latin typeface="Aptos Narrow" panose="020B0004020202020204" pitchFamily="34" charset="0"/>
              </a:rPr>
              <a:t>Distance learning</a:t>
            </a:r>
            <a:r>
              <a:rPr lang="en-US" dirty="0">
                <a:latin typeface="Aptos Narrow" panose="020B0004020202020204" pitchFamily="34" charset="0"/>
              </a:rPr>
              <a:t>: online lessons, exams, virtual classrooms.</a:t>
            </a:r>
          </a:p>
          <a:p>
            <a:pPr>
              <a:lnSpc>
                <a:spcPct val="110000"/>
              </a:lnSpc>
            </a:pPr>
            <a:r>
              <a:rPr lang="en-US" b="1" dirty="0">
                <a:latin typeface="Aptos Narrow" panose="020B0004020202020204" pitchFamily="34" charset="0"/>
              </a:rPr>
              <a:t>Business </a:t>
            </a:r>
            <a:r>
              <a:rPr lang="en-US" dirty="0">
                <a:latin typeface="Aptos Narrow" panose="020B0004020202020204" pitchFamily="34" charset="0"/>
              </a:rPr>
              <a:t>and</a:t>
            </a:r>
            <a:r>
              <a:rPr lang="en-US" b="1" dirty="0">
                <a:latin typeface="Aptos Narrow" panose="020B0004020202020204" pitchFamily="34" charset="0"/>
              </a:rPr>
              <a:t> work</a:t>
            </a:r>
            <a:r>
              <a:rPr lang="en-US" dirty="0">
                <a:latin typeface="Aptos Narrow" panose="020B0004020202020204" pitchFamily="34" charset="0"/>
              </a:rPr>
              <a:t>: team meetings, talks, international conferences.</a:t>
            </a:r>
          </a:p>
          <a:p>
            <a:pPr>
              <a:lnSpc>
                <a:spcPct val="110000"/>
              </a:lnSpc>
            </a:pPr>
            <a:r>
              <a:rPr lang="en-US" b="1" dirty="0">
                <a:latin typeface="Aptos Narrow" panose="020B0004020202020204" pitchFamily="34" charset="0"/>
              </a:rPr>
              <a:t>Events </a:t>
            </a:r>
            <a:r>
              <a:rPr lang="en-US" dirty="0">
                <a:latin typeface="Aptos Narrow" panose="020B0004020202020204" pitchFamily="34" charset="0"/>
              </a:rPr>
              <a:t>and</a:t>
            </a:r>
            <a:r>
              <a:rPr lang="en-US" b="1" dirty="0">
                <a:latin typeface="Aptos Narrow" panose="020B0004020202020204" pitchFamily="34" charset="0"/>
              </a:rPr>
              <a:t> webinars</a:t>
            </a:r>
            <a:r>
              <a:rPr lang="en-US" dirty="0">
                <a:latin typeface="Aptos Narrow" panose="020B0004020202020204" pitchFamily="34" charset="0"/>
              </a:rPr>
              <a:t>: product presentations, public conferences, workshops.</a:t>
            </a:r>
          </a:p>
          <a:p>
            <a:pPr>
              <a:lnSpc>
                <a:spcPct val="110000"/>
              </a:lnSpc>
            </a:pPr>
            <a:r>
              <a:rPr lang="en-US" b="1" dirty="0">
                <a:latin typeface="Aptos Narrow" panose="020B0004020202020204" pitchFamily="34" charset="0"/>
              </a:rPr>
              <a:t>Personal use</a:t>
            </a:r>
            <a:r>
              <a:rPr lang="en-US" dirty="0">
                <a:latin typeface="Aptos Narrow" panose="020B0004020202020204" pitchFamily="34" charset="0"/>
              </a:rPr>
              <a:t>: calls between friends and family, virtual parties, remote meetings</a:t>
            </a:r>
          </a:p>
          <a:p>
            <a:pPr>
              <a:lnSpc>
                <a:spcPct val="110000"/>
              </a:lnSpc>
            </a:pPr>
            <a:endParaRPr lang="it-IT" sz="1100" dirty="0"/>
          </a:p>
        </p:txBody>
      </p:sp>
      <p:pic>
        <p:nvPicPr>
          <p:cNvPr id="16" name="Elemento grafico 15" descr="Connections">
            <a:extLst>
              <a:ext uri="{FF2B5EF4-FFF2-40B4-BE49-F238E27FC236}">
                <a16:creationId xmlns:a16="http://schemas.microsoft.com/office/drawing/2014/main" id="{3FF8841D-93C5-A40A-CEFB-15B3616D27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2200820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FA2B4E6-202B-BC32-5AE7-9837A931E98C}"/>
              </a:ext>
            </a:extLst>
          </p:cNvPr>
          <p:cNvSpPr>
            <a:spLocks noGrp="1"/>
          </p:cNvSpPr>
          <p:nvPr>
            <p:ph type="title"/>
          </p:nvPr>
        </p:nvSpPr>
        <p:spPr/>
        <p:txBody>
          <a:bodyPr/>
          <a:lstStyle/>
          <a:p>
            <a:r>
              <a:rPr lang="it-IT" b="0" dirty="0">
                <a:latin typeface="Aptos Narrow" panose="020B0004020202020204" pitchFamily="34" charset="0"/>
              </a:rPr>
              <a:t>WIRESHARK</a:t>
            </a:r>
          </a:p>
        </p:txBody>
      </p:sp>
      <p:graphicFrame>
        <p:nvGraphicFramePr>
          <p:cNvPr id="5" name="Segnaposto contenuto 2">
            <a:extLst>
              <a:ext uri="{FF2B5EF4-FFF2-40B4-BE49-F238E27FC236}">
                <a16:creationId xmlns:a16="http://schemas.microsoft.com/office/drawing/2014/main" id="{8A91D8FC-95C3-83B4-49A7-E173A6412848}"/>
              </a:ext>
            </a:extLst>
          </p:cNvPr>
          <p:cNvGraphicFramePr>
            <a:graphicFrameLocks noGrp="1"/>
          </p:cNvGraphicFramePr>
          <p:nvPr>
            <p:ph idx="1"/>
            <p:extLst>
              <p:ext uri="{D42A27DB-BD31-4B8C-83A1-F6EECF244321}">
                <p14:modId xmlns:p14="http://schemas.microsoft.com/office/powerpoint/2010/main" val="3082382355"/>
              </p:ext>
            </p:extLst>
          </p:nvPr>
        </p:nvGraphicFramePr>
        <p:xfrm>
          <a:off x="640080" y="2349910"/>
          <a:ext cx="10890928" cy="38497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1991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7D6FF03-C071-DE97-33EA-1ED24219FC85}"/>
              </a:ext>
            </a:extLst>
          </p:cNvPr>
          <p:cNvSpPr>
            <a:spLocks noGrp="1"/>
          </p:cNvSpPr>
          <p:nvPr>
            <p:ph type="title"/>
          </p:nvPr>
        </p:nvSpPr>
        <p:spPr/>
        <p:txBody>
          <a:bodyPr/>
          <a:lstStyle/>
          <a:p>
            <a:r>
              <a:rPr lang="it-IT" b="0" dirty="0">
                <a:latin typeface="Aptos Narrow" panose="020B0004020202020204" pitchFamily="34" charset="0"/>
              </a:rPr>
              <a:t>APP OPENING PHASE</a:t>
            </a:r>
          </a:p>
        </p:txBody>
      </p:sp>
      <p:sp>
        <p:nvSpPr>
          <p:cNvPr id="3" name="Segnaposto contenuto 2">
            <a:extLst>
              <a:ext uri="{FF2B5EF4-FFF2-40B4-BE49-F238E27FC236}">
                <a16:creationId xmlns:a16="http://schemas.microsoft.com/office/drawing/2014/main" id="{4611047E-6C6F-434C-9E36-DBC6D0AFCDEE}"/>
              </a:ext>
            </a:extLst>
          </p:cNvPr>
          <p:cNvSpPr>
            <a:spLocks noGrp="1"/>
          </p:cNvSpPr>
          <p:nvPr>
            <p:ph idx="1"/>
          </p:nvPr>
        </p:nvSpPr>
        <p:spPr>
          <a:xfrm>
            <a:off x="640078" y="2439639"/>
            <a:ext cx="8966144" cy="1978721"/>
          </a:xfrm>
        </p:spPr>
        <p:txBody>
          <a:bodyPr/>
          <a:lstStyle/>
          <a:p>
            <a:pPr marL="0" lvl="0" indent="0">
              <a:buNone/>
            </a:pPr>
            <a:r>
              <a:rPr lang="en-US" dirty="0">
                <a:latin typeface="Aptos Narrow" panose="020B0004020202020204" pitchFamily="34" charset="0"/>
              </a:rPr>
              <a:t>During the </a:t>
            </a:r>
            <a:r>
              <a:rPr lang="en-US" b="1" dirty="0">
                <a:latin typeface="Aptos Narrow" panose="020B0004020202020204" pitchFamily="34" charset="0"/>
              </a:rPr>
              <a:t>opening</a:t>
            </a:r>
            <a:r>
              <a:rPr lang="en-US" dirty="0">
                <a:latin typeface="Aptos Narrow" panose="020B0004020202020204" pitchFamily="34" charset="0"/>
              </a:rPr>
              <a:t> </a:t>
            </a:r>
            <a:r>
              <a:rPr lang="en-US" b="1" dirty="0">
                <a:latin typeface="Aptos Narrow" panose="020B0004020202020204" pitchFamily="34" charset="0"/>
              </a:rPr>
              <a:t>phase</a:t>
            </a:r>
            <a:r>
              <a:rPr lang="en-US" dirty="0">
                <a:latin typeface="Aptos Narrow" panose="020B0004020202020204" pitchFamily="34" charset="0"/>
              </a:rPr>
              <a:t> of the Zoom app, our PC will perform the following actions:</a:t>
            </a:r>
          </a:p>
          <a:p>
            <a:r>
              <a:rPr lang="en-US" dirty="0">
                <a:latin typeface="Aptos Narrow" panose="020B0004020202020204" pitchFamily="34" charset="0"/>
              </a:rPr>
              <a:t>The PC queries its </a:t>
            </a:r>
            <a:r>
              <a:rPr lang="en-US" b="1" dirty="0">
                <a:latin typeface="Aptos Narrow" panose="020B0004020202020204" pitchFamily="34" charset="0"/>
              </a:rPr>
              <a:t>Default Name Server</a:t>
            </a:r>
          </a:p>
          <a:p>
            <a:r>
              <a:rPr lang="en-US" dirty="0">
                <a:latin typeface="Aptos Narrow" panose="020B0004020202020204" pitchFamily="34" charset="0"/>
              </a:rPr>
              <a:t>That server will provide it with the public IP of the Zoom server to contact</a:t>
            </a:r>
          </a:p>
          <a:p>
            <a:r>
              <a:rPr lang="en-US" dirty="0">
                <a:latin typeface="Aptos Narrow" panose="020B0004020202020204" pitchFamily="34" charset="0"/>
              </a:rPr>
              <a:t>Then the PC establishes a </a:t>
            </a:r>
            <a:r>
              <a:rPr lang="en-US" b="1" dirty="0">
                <a:latin typeface="Aptos Narrow" panose="020B0004020202020204" pitchFamily="34" charset="0"/>
              </a:rPr>
              <a:t>TCP connection </a:t>
            </a:r>
            <a:r>
              <a:rPr lang="en-US" dirty="0">
                <a:latin typeface="Aptos Narrow" panose="020B0004020202020204" pitchFamily="34" charset="0"/>
              </a:rPr>
              <a:t>with that server</a:t>
            </a:r>
          </a:p>
          <a:p>
            <a:pPr marL="0" lvl="0" indent="0">
              <a:buNone/>
            </a:pPr>
            <a:endParaRPr lang="it-IT" dirty="0"/>
          </a:p>
          <a:p>
            <a:endParaRPr lang="it-IT" dirty="0"/>
          </a:p>
        </p:txBody>
      </p:sp>
      <p:pic>
        <p:nvPicPr>
          <p:cNvPr id="4" name="Immagine 3">
            <a:extLst>
              <a:ext uri="{FF2B5EF4-FFF2-40B4-BE49-F238E27FC236}">
                <a16:creationId xmlns:a16="http://schemas.microsoft.com/office/drawing/2014/main" id="{A5E63F13-28B0-7260-C45B-B92176B3AA7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78" y="4612193"/>
            <a:ext cx="10744703" cy="1587439"/>
          </a:xfrm>
          <a:prstGeom prst="rect">
            <a:avLst/>
          </a:prstGeom>
          <a:noFill/>
          <a:ln>
            <a:noFill/>
          </a:ln>
        </p:spPr>
      </p:pic>
    </p:spTree>
    <p:extLst>
      <p:ext uri="{BB962C8B-B14F-4D97-AF65-F5344CB8AC3E}">
        <p14:creationId xmlns:p14="http://schemas.microsoft.com/office/powerpoint/2010/main" val="1787774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592F622-ACB8-90EE-19F9-3E2B8FC64784}"/>
              </a:ext>
            </a:extLst>
          </p:cNvPr>
          <p:cNvSpPr>
            <a:spLocks noGrp="1"/>
          </p:cNvSpPr>
          <p:nvPr>
            <p:ph type="title"/>
          </p:nvPr>
        </p:nvSpPr>
        <p:spPr/>
        <p:txBody>
          <a:bodyPr/>
          <a:lstStyle/>
          <a:p>
            <a:r>
              <a:rPr lang="it-IT" dirty="0">
                <a:latin typeface="Aptos Narrow" panose="020B0004020202020204" pitchFamily="34" charset="0"/>
              </a:rPr>
              <a:t>AUTHENTICATION</a:t>
            </a:r>
          </a:p>
        </p:txBody>
      </p:sp>
      <p:sp>
        <p:nvSpPr>
          <p:cNvPr id="3" name="Segnaposto contenuto 2">
            <a:extLst>
              <a:ext uri="{FF2B5EF4-FFF2-40B4-BE49-F238E27FC236}">
                <a16:creationId xmlns:a16="http://schemas.microsoft.com/office/drawing/2014/main" id="{4A64E999-FB92-65F9-0737-63A056E86C20}"/>
              </a:ext>
            </a:extLst>
          </p:cNvPr>
          <p:cNvSpPr>
            <a:spLocks noGrp="1"/>
          </p:cNvSpPr>
          <p:nvPr>
            <p:ph idx="1"/>
          </p:nvPr>
        </p:nvSpPr>
        <p:spPr>
          <a:xfrm>
            <a:off x="640080" y="2344995"/>
            <a:ext cx="10890928" cy="1755648"/>
          </a:xfrm>
        </p:spPr>
        <p:txBody>
          <a:bodyPr/>
          <a:lstStyle/>
          <a:p>
            <a:r>
              <a:rPr lang="en-US" dirty="0">
                <a:latin typeface="Aptos Narrow" panose="020B0004020202020204" pitchFamily="34" charset="0"/>
              </a:rPr>
              <a:t>During the zoom </a:t>
            </a:r>
            <a:r>
              <a:rPr lang="en-US" b="1" dirty="0">
                <a:latin typeface="Aptos Narrow" panose="020B0004020202020204" pitchFamily="34" charset="0"/>
              </a:rPr>
              <a:t>authentication phase </a:t>
            </a:r>
            <a:r>
              <a:rPr lang="en-US" dirty="0">
                <a:latin typeface="Aptos Narrow" panose="020B0004020202020204" pitchFamily="34" charset="0"/>
              </a:rPr>
              <a:t>it gives us the ability to authenticate with Google credentials: exactly what we did</a:t>
            </a:r>
          </a:p>
          <a:p>
            <a:r>
              <a:rPr lang="en-US" dirty="0">
                <a:latin typeface="Aptos Narrow" panose="020B0004020202020204" pitchFamily="34" charset="0"/>
              </a:rPr>
              <a:t>In fact, we note from the figure below a massive exchange of packets with the google server used for authentication: </a:t>
            </a:r>
            <a:r>
              <a:rPr lang="en-US" b="1" dirty="0">
                <a:latin typeface="Aptos Narrow" panose="020B0004020202020204" pitchFamily="34" charset="0"/>
              </a:rPr>
              <a:t>accounts.google.com</a:t>
            </a:r>
          </a:p>
          <a:p>
            <a:endParaRPr lang="it-IT" dirty="0"/>
          </a:p>
          <a:p>
            <a:endParaRPr lang="it-IT" dirty="0"/>
          </a:p>
        </p:txBody>
      </p:sp>
      <p:pic>
        <p:nvPicPr>
          <p:cNvPr id="4" name="Immagine 3">
            <a:extLst>
              <a:ext uri="{FF2B5EF4-FFF2-40B4-BE49-F238E27FC236}">
                <a16:creationId xmlns:a16="http://schemas.microsoft.com/office/drawing/2014/main" id="{44A44FFD-5F76-4574-1AFB-D3045405562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92" y="4389119"/>
            <a:ext cx="10890928" cy="1576787"/>
          </a:xfrm>
          <a:prstGeom prst="rect">
            <a:avLst/>
          </a:prstGeom>
          <a:noFill/>
          <a:ln>
            <a:noFill/>
          </a:ln>
        </p:spPr>
      </p:pic>
    </p:spTree>
    <p:extLst>
      <p:ext uri="{BB962C8B-B14F-4D97-AF65-F5344CB8AC3E}">
        <p14:creationId xmlns:p14="http://schemas.microsoft.com/office/powerpoint/2010/main" val="3703828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BEA81781-4694-AE15-BC60-55A39BF9B3E7}"/>
              </a:ext>
            </a:extLst>
          </p:cNvPr>
          <p:cNvSpPr>
            <a:spLocks noGrp="1"/>
          </p:cNvSpPr>
          <p:nvPr>
            <p:ph type="title"/>
          </p:nvPr>
        </p:nvSpPr>
        <p:spPr>
          <a:xfrm>
            <a:off x="660993" y="4895273"/>
            <a:ext cx="4051684" cy="1093541"/>
          </a:xfrm>
        </p:spPr>
        <p:txBody>
          <a:bodyPr anchor="ctr">
            <a:normAutofit/>
          </a:bodyPr>
          <a:lstStyle/>
          <a:p>
            <a:r>
              <a:rPr lang="it-IT" sz="3600" b="0" dirty="0">
                <a:latin typeface="Aptos Narrow" panose="020B0004020202020204" pitchFamily="34" charset="0"/>
              </a:rPr>
              <a:t>I/O GRAPHIC</a:t>
            </a:r>
          </a:p>
        </p:txBody>
      </p:sp>
      <p:cxnSp>
        <p:nvCxnSpPr>
          <p:cNvPr id="11" name="Straight Connector 10">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60992" y="4651571"/>
            <a:ext cx="10869326" cy="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7B3C9CBE-7F5F-96E3-EE69-B7D96F8002E8}"/>
              </a:ext>
            </a:extLst>
          </p:cNvPr>
          <p:cNvSpPr>
            <a:spLocks noGrp="1"/>
          </p:cNvSpPr>
          <p:nvPr>
            <p:ph idx="1"/>
          </p:nvPr>
        </p:nvSpPr>
        <p:spPr>
          <a:xfrm>
            <a:off x="4872777" y="4895270"/>
            <a:ext cx="6658234" cy="1476541"/>
          </a:xfrm>
        </p:spPr>
        <p:txBody>
          <a:bodyPr anchor="ctr">
            <a:normAutofit/>
          </a:bodyPr>
          <a:lstStyle/>
          <a:p>
            <a:pPr>
              <a:lnSpc>
                <a:spcPct val="110000"/>
              </a:lnSpc>
            </a:pPr>
            <a:r>
              <a:rPr lang="en-US" sz="1700" dirty="0">
                <a:latin typeface="Aptos Narrow" panose="020B0004020202020204" pitchFamily="34" charset="0"/>
              </a:rPr>
              <a:t>TLS traffic between </a:t>
            </a:r>
            <a:r>
              <a:rPr lang="en-US" sz="1700" b="1" dirty="0">
                <a:latin typeface="Aptos Narrow" panose="020B0004020202020204" pitchFamily="34" charset="0"/>
              </a:rPr>
              <a:t>my</a:t>
            </a:r>
            <a:r>
              <a:rPr lang="en-US" sz="1700" dirty="0">
                <a:latin typeface="Aptos Narrow" panose="020B0004020202020204" pitchFamily="34" charset="0"/>
              </a:rPr>
              <a:t> </a:t>
            </a:r>
            <a:r>
              <a:rPr lang="en-US" sz="1700" b="1" dirty="0">
                <a:latin typeface="Aptos Narrow" panose="020B0004020202020204" pitchFamily="34" charset="0"/>
              </a:rPr>
              <a:t>PC</a:t>
            </a:r>
            <a:r>
              <a:rPr lang="en-US" sz="1700" dirty="0">
                <a:latin typeface="Aptos Narrow" panose="020B0004020202020204" pitchFamily="34" charset="0"/>
              </a:rPr>
              <a:t> and the </a:t>
            </a:r>
            <a:r>
              <a:rPr lang="en-US" sz="1700" b="1" dirty="0">
                <a:latin typeface="Aptos Narrow" panose="020B0004020202020204" pitchFamily="34" charset="0"/>
              </a:rPr>
              <a:t>Google server </a:t>
            </a:r>
            <a:r>
              <a:rPr lang="en-US" sz="1700" dirty="0">
                <a:latin typeface="Aptos Narrow" panose="020B0004020202020204" pitchFamily="34" charset="0"/>
              </a:rPr>
              <a:t>used for authentication, in </a:t>
            </a:r>
            <a:r>
              <a:rPr lang="en-US" sz="1700" dirty="0">
                <a:solidFill>
                  <a:srgbClr val="FF0000"/>
                </a:solidFill>
                <a:latin typeface="Aptos Narrow" panose="020B0004020202020204" pitchFamily="34" charset="0"/>
              </a:rPr>
              <a:t>red</a:t>
            </a:r>
          </a:p>
          <a:p>
            <a:pPr>
              <a:lnSpc>
                <a:spcPct val="110000"/>
              </a:lnSpc>
            </a:pPr>
            <a:r>
              <a:rPr lang="en-US" sz="1700" dirty="0">
                <a:latin typeface="Aptos Narrow" panose="020B0004020202020204" pitchFamily="34" charset="0"/>
              </a:rPr>
              <a:t>TLS traffic between </a:t>
            </a:r>
            <a:r>
              <a:rPr lang="en-US" sz="1700" b="1" dirty="0">
                <a:latin typeface="Aptos Narrow" panose="020B0004020202020204" pitchFamily="34" charset="0"/>
              </a:rPr>
              <a:t>my PC </a:t>
            </a:r>
            <a:r>
              <a:rPr lang="en-US" sz="1700" dirty="0">
                <a:latin typeface="Aptos Narrow" panose="020B0004020202020204" pitchFamily="34" charset="0"/>
              </a:rPr>
              <a:t>and a </a:t>
            </a:r>
            <a:r>
              <a:rPr lang="en-US" sz="1700" b="1" dirty="0">
                <a:latin typeface="Aptos Narrow" panose="020B0004020202020204" pitchFamily="34" charset="0"/>
              </a:rPr>
              <a:t>Zoom server </a:t>
            </a:r>
            <a:r>
              <a:rPr lang="en-US" sz="1700" dirty="0">
                <a:latin typeface="Aptos Narrow" panose="020B0004020202020204" pitchFamily="34" charset="0"/>
              </a:rPr>
              <a:t>(206.247.42.42), in </a:t>
            </a:r>
            <a:r>
              <a:rPr lang="en-US" sz="1700" dirty="0">
                <a:solidFill>
                  <a:srgbClr val="00B050"/>
                </a:solidFill>
                <a:latin typeface="Aptos Narrow" panose="020B0004020202020204" pitchFamily="34" charset="0"/>
              </a:rPr>
              <a:t>green</a:t>
            </a:r>
          </a:p>
          <a:p>
            <a:pPr>
              <a:lnSpc>
                <a:spcPct val="110000"/>
              </a:lnSpc>
            </a:pPr>
            <a:endParaRPr lang="it-IT" sz="1700" dirty="0"/>
          </a:p>
        </p:txBody>
      </p:sp>
      <p:pic>
        <p:nvPicPr>
          <p:cNvPr id="5" name="Immagine 4" descr="Immagine che contiene linea, Diagramma, schermata, testo&#10;&#10;Il contenuto generato dall'IA potrebbe non essere corretto.">
            <a:extLst>
              <a:ext uri="{FF2B5EF4-FFF2-40B4-BE49-F238E27FC236}">
                <a16:creationId xmlns:a16="http://schemas.microsoft.com/office/drawing/2014/main" id="{A391C3FF-32D1-0270-9E51-89C4FE7BAE9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92" y="341646"/>
            <a:ext cx="10869326" cy="4066221"/>
          </a:xfrm>
          <a:prstGeom prst="rect">
            <a:avLst/>
          </a:prstGeom>
          <a:noFill/>
          <a:ln>
            <a:noFill/>
          </a:ln>
        </p:spPr>
      </p:pic>
    </p:spTree>
    <p:extLst>
      <p:ext uri="{BB962C8B-B14F-4D97-AF65-F5344CB8AC3E}">
        <p14:creationId xmlns:p14="http://schemas.microsoft.com/office/powerpoint/2010/main" val="751737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9CCC9C1-5E79-DD92-ECDB-9CA4A858ADF5}"/>
              </a:ext>
            </a:extLst>
          </p:cNvPr>
          <p:cNvSpPr>
            <a:spLocks noGrp="1"/>
          </p:cNvSpPr>
          <p:nvPr>
            <p:ph type="title"/>
          </p:nvPr>
        </p:nvSpPr>
        <p:spPr/>
        <p:txBody>
          <a:bodyPr/>
          <a:lstStyle/>
          <a:p>
            <a:r>
              <a:rPr lang="it-IT" b="0" dirty="0">
                <a:latin typeface="Aptos Narrow" panose="020B0004020202020204" pitchFamily="34" charset="0"/>
              </a:rPr>
              <a:t>AUDIO/VIDEO COMMUNICATIONS</a:t>
            </a:r>
          </a:p>
        </p:txBody>
      </p:sp>
      <p:graphicFrame>
        <p:nvGraphicFramePr>
          <p:cNvPr id="7" name="Segnaposto contenuto 2">
            <a:extLst>
              <a:ext uri="{FF2B5EF4-FFF2-40B4-BE49-F238E27FC236}">
                <a16:creationId xmlns:a16="http://schemas.microsoft.com/office/drawing/2014/main" id="{52F40F11-F977-18DF-BB8A-5CAD4AC87FDD}"/>
              </a:ext>
            </a:extLst>
          </p:cNvPr>
          <p:cNvGraphicFramePr>
            <a:graphicFrameLocks noGrp="1"/>
          </p:cNvGraphicFramePr>
          <p:nvPr>
            <p:ph idx="1"/>
            <p:extLst>
              <p:ext uri="{D42A27DB-BD31-4B8C-83A1-F6EECF244321}">
                <p14:modId xmlns:p14="http://schemas.microsoft.com/office/powerpoint/2010/main" val="3060901108"/>
              </p:ext>
            </p:extLst>
          </p:nvPr>
        </p:nvGraphicFramePr>
        <p:xfrm>
          <a:off x="650535" y="3291840"/>
          <a:ext cx="10890928"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magine 4">
            <a:extLst>
              <a:ext uri="{FF2B5EF4-FFF2-40B4-BE49-F238E27FC236}">
                <a16:creationId xmlns:a16="http://schemas.microsoft.com/office/drawing/2014/main" id="{24D5002C-C350-B6DC-89C2-09247F55FDB2}"/>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60992" y="2260879"/>
            <a:ext cx="10870015" cy="974690"/>
          </a:xfrm>
          <a:prstGeom prst="rect">
            <a:avLst/>
          </a:prstGeom>
          <a:noFill/>
          <a:ln>
            <a:noFill/>
          </a:ln>
        </p:spPr>
      </p:pic>
    </p:spTree>
    <p:extLst>
      <p:ext uri="{BB962C8B-B14F-4D97-AF65-F5344CB8AC3E}">
        <p14:creationId xmlns:p14="http://schemas.microsoft.com/office/powerpoint/2010/main" val="1937106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12BD4504-1392-11E5-CE6C-7ED9BA164943}"/>
              </a:ext>
            </a:extLst>
          </p:cNvPr>
          <p:cNvSpPr>
            <a:spLocks noGrp="1"/>
          </p:cNvSpPr>
          <p:nvPr>
            <p:ph type="title"/>
          </p:nvPr>
        </p:nvSpPr>
        <p:spPr>
          <a:xfrm>
            <a:off x="660993" y="4895273"/>
            <a:ext cx="3550790" cy="962913"/>
          </a:xfrm>
        </p:spPr>
        <p:txBody>
          <a:bodyPr anchor="ctr">
            <a:normAutofit/>
          </a:bodyPr>
          <a:lstStyle/>
          <a:p>
            <a:r>
              <a:rPr lang="it-IT" sz="3600" b="0" dirty="0">
                <a:latin typeface="Aptos Narrow" panose="020B0004020202020204" pitchFamily="34" charset="0"/>
              </a:rPr>
              <a:t>I/O GRAPHICS</a:t>
            </a:r>
          </a:p>
        </p:txBody>
      </p:sp>
      <p:cxnSp>
        <p:nvCxnSpPr>
          <p:cNvPr id="11" name="Straight Connector 10">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60992" y="4651571"/>
            <a:ext cx="10869326" cy="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242B5372-8936-D836-0A6F-206C79258E7A}"/>
              </a:ext>
            </a:extLst>
          </p:cNvPr>
          <p:cNvSpPr>
            <a:spLocks noGrp="1"/>
          </p:cNvSpPr>
          <p:nvPr>
            <p:ph idx="1"/>
          </p:nvPr>
        </p:nvSpPr>
        <p:spPr>
          <a:xfrm>
            <a:off x="4872777" y="4895270"/>
            <a:ext cx="6658234" cy="1476541"/>
          </a:xfrm>
        </p:spPr>
        <p:txBody>
          <a:bodyPr anchor="ctr">
            <a:normAutofit/>
          </a:bodyPr>
          <a:lstStyle/>
          <a:p>
            <a:pPr marL="0" indent="0">
              <a:buNone/>
            </a:pPr>
            <a:r>
              <a:rPr lang="en-US" b="1" dirty="0">
                <a:latin typeface="Aptos Narrow" panose="020B0004020202020204" pitchFamily="34" charset="0"/>
              </a:rPr>
              <a:t>UDP streams </a:t>
            </a:r>
            <a:r>
              <a:rPr lang="en-US" dirty="0">
                <a:latin typeface="Aptos Narrow" panose="020B0004020202020204" pitchFamily="34" charset="0"/>
              </a:rPr>
              <a:t>are already alive even with the microphone and camera turned off </a:t>
            </a:r>
          </a:p>
          <a:p>
            <a:pPr marL="0" indent="0">
              <a:buNone/>
            </a:pPr>
            <a:endParaRPr lang="it-IT" dirty="0">
              <a:latin typeface="Aptos Narrow" panose="020B0004020202020204" pitchFamily="34" charset="0"/>
            </a:endParaRPr>
          </a:p>
        </p:txBody>
      </p:sp>
      <p:pic>
        <p:nvPicPr>
          <p:cNvPr id="5" name="Immagine 4" descr="Immagine che contiene schermata, linea, Diagramma, testo&#10;&#10;Il contenuto generato dall'IA potrebbe non essere corretto.">
            <a:extLst>
              <a:ext uri="{FF2B5EF4-FFF2-40B4-BE49-F238E27FC236}">
                <a16:creationId xmlns:a16="http://schemas.microsoft.com/office/drawing/2014/main" id="{980840E7-CE78-8FE1-4CB1-6FE270DD45E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92" y="411982"/>
            <a:ext cx="10869325" cy="3995889"/>
          </a:xfrm>
          <a:prstGeom prst="rect">
            <a:avLst/>
          </a:prstGeom>
          <a:noFill/>
          <a:ln>
            <a:noFill/>
          </a:ln>
        </p:spPr>
      </p:pic>
    </p:spTree>
    <p:extLst>
      <p:ext uri="{BB962C8B-B14F-4D97-AF65-F5344CB8AC3E}">
        <p14:creationId xmlns:p14="http://schemas.microsoft.com/office/powerpoint/2010/main" val="2489757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2B3F30D-0854-5565-E770-882288D1E8EB}"/>
              </a:ext>
            </a:extLst>
          </p:cNvPr>
          <p:cNvSpPr>
            <a:spLocks noGrp="1"/>
          </p:cNvSpPr>
          <p:nvPr>
            <p:ph type="title"/>
          </p:nvPr>
        </p:nvSpPr>
        <p:spPr/>
        <p:txBody>
          <a:bodyPr/>
          <a:lstStyle/>
          <a:p>
            <a:r>
              <a:rPr lang="it-IT" b="0">
                <a:latin typeface="Aptos Narrow" panose="020B0004020202020204" pitchFamily="34" charset="0"/>
              </a:rPr>
              <a:t>PROTOCOLS USED</a:t>
            </a:r>
            <a:endParaRPr lang="it-IT" b="0" dirty="0">
              <a:latin typeface="Aptos Narrow" panose="020B0004020202020204" pitchFamily="34" charset="0"/>
            </a:endParaRPr>
          </a:p>
        </p:txBody>
      </p:sp>
      <p:sp>
        <p:nvSpPr>
          <p:cNvPr id="3" name="Segnaposto contenuto 2">
            <a:extLst>
              <a:ext uri="{FF2B5EF4-FFF2-40B4-BE49-F238E27FC236}">
                <a16:creationId xmlns:a16="http://schemas.microsoft.com/office/drawing/2014/main" id="{937A06D1-F1C5-58F6-319A-03A2BC82DD21}"/>
              </a:ext>
            </a:extLst>
          </p:cNvPr>
          <p:cNvSpPr>
            <a:spLocks noGrp="1"/>
          </p:cNvSpPr>
          <p:nvPr>
            <p:ph idx="1"/>
          </p:nvPr>
        </p:nvSpPr>
        <p:spPr/>
        <p:txBody>
          <a:bodyPr>
            <a:normAutofit/>
          </a:bodyPr>
          <a:lstStyle/>
          <a:p>
            <a:pPr marL="0" lvl="0" indent="0">
              <a:buNone/>
            </a:pPr>
            <a:r>
              <a:rPr lang="en-US" dirty="0">
                <a:latin typeface="Aptos Narrow" panose="020B0004020202020204" pitchFamily="34" charset="0"/>
              </a:rPr>
              <a:t>In addition to the DNS, TCP, TLS, and UDP protocols, the protocols of SRTP and DTLS will be used:</a:t>
            </a:r>
          </a:p>
          <a:p>
            <a:pPr lvl="0"/>
            <a:r>
              <a:rPr lang="en-US" b="1" dirty="0">
                <a:latin typeface="Aptos Narrow" panose="020B0004020202020204" pitchFamily="34" charset="0"/>
              </a:rPr>
              <a:t>DTLS</a:t>
            </a:r>
            <a:r>
              <a:rPr lang="en-US" dirty="0">
                <a:latin typeface="Aptos Narrow" panose="020B0004020202020204" pitchFamily="34" charset="0"/>
              </a:rPr>
              <a:t> is essentially the version of TLS (Transport Layer Security) adapted to run on datagrams, typically UDP, rather than streams as in TCP. Manages an encrypted handshake that establishes security parameters (algorithms, keys) between the parties</a:t>
            </a:r>
          </a:p>
          <a:p>
            <a:pPr lvl="0"/>
            <a:r>
              <a:rPr lang="en-US" b="1" dirty="0">
                <a:latin typeface="Aptos Narrow" panose="020B0004020202020204" pitchFamily="34" charset="0"/>
              </a:rPr>
              <a:t>SRTP</a:t>
            </a:r>
            <a:r>
              <a:rPr lang="en-US" dirty="0">
                <a:latin typeface="Aptos Narrow" panose="020B0004020202020204" pitchFamily="34" charset="0"/>
              </a:rPr>
              <a:t> is a secure extension of the RTP (Real-time Transport Protocol), which is used to transport real-time media (audio/video) over the Internet. It does not itself have a complete mechanism for negotiating keys, which is why it combines with DTLS to obtain keys (model “</a:t>
            </a:r>
            <a:r>
              <a:rPr lang="en-US" b="1" dirty="0">
                <a:latin typeface="Aptos Narrow" panose="020B0004020202020204" pitchFamily="34" charset="0"/>
              </a:rPr>
              <a:t>DTLS-SRTP</a:t>
            </a:r>
            <a:r>
              <a:rPr lang="en-US" dirty="0">
                <a:latin typeface="Aptos Narrow" panose="020B0004020202020204" pitchFamily="34" charset="0"/>
              </a:rPr>
              <a:t>”) </a:t>
            </a:r>
          </a:p>
          <a:p>
            <a:pPr lvl="0"/>
            <a:endParaRPr lang="it-IT" dirty="0"/>
          </a:p>
          <a:p>
            <a:pPr lvl="0"/>
            <a:endParaRPr lang="it-IT" dirty="0"/>
          </a:p>
          <a:p>
            <a:pPr marL="0" indent="0">
              <a:buNone/>
            </a:pPr>
            <a:endParaRPr lang="it-IT" dirty="0"/>
          </a:p>
        </p:txBody>
      </p:sp>
    </p:spTree>
    <p:extLst>
      <p:ext uri="{BB962C8B-B14F-4D97-AF65-F5344CB8AC3E}">
        <p14:creationId xmlns:p14="http://schemas.microsoft.com/office/powerpoint/2010/main" val="2577990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A2D0E12E-8CB6-7A92-1EDA-39EE5B2D1299}"/>
              </a:ext>
            </a:extLst>
          </p:cNvPr>
          <p:cNvSpPr>
            <a:spLocks noGrp="1"/>
          </p:cNvSpPr>
          <p:nvPr>
            <p:ph type="title"/>
          </p:nvPr>
        </p:nvSpPr>
        <p:spPr>
          <a:xfrm>
            <a:off x="640080" y="1371600"/>
            <a:ext cx="5852160" cy="1097280"/>
          </a:xfrm>
        </p:spPr>
        <p:txBody>
          <a:bodyPr anchor="t">
            <a:normAutofit/>
          </a:bodyPr>
          <a:lstStyle/>
          <a:p>
            <a:r>
              <a:rPr lang="it-IT" b="0" dirty="0">
                <a:latin typeface="Aptos Narrow" panose="020B0004020202020204" pitchFamily="34" charset="0"/>
              </a:rPr>
              <a:t>ZOOM SERVERS</a:t>
            </a:r>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30CE5815-9032-117E-CC73-BDDE0FECECBB}"/>
              </a:ext>
            </a:extLst>
          </p:cNvPr>
          <p:cNvSpPr>
            <a:spLocks noGrp="1"/>
          </p:cNvSpPr>
          <p:nvPr>
            <p:ph idx="1"/>
          </p:nvPr>
        </p:nvSpPr>
        <p:spPr>
          <a:xfrm>
            <a:off x="640080" y="2633236"/>
            <a:ext cx="5852160" cy="3664685"/>
          </a:xfrm>
        </p:spPr>
        <p:txBody>
          <a:bodyPr>
            <a:normAutofit/>
          </a:bodyPr>
          <a:lstStyle/>
          <a:p>
            <a:pPr marL="0" indent="0">
              <a:buNone/>
            </a:pPr>
            <a:r>
              <a:rPr lang="en-US" dirty="0">
                <a:latin typeface="Aptos Narrow" panose="020B0004020202020204" pitchFamily="34" charset="0"/>
              </a:rPr>
              <a:t>Zoom uses:</a:t>
            </a:r>
          </a:p>
          <a:p>
            <a:r>
              <a:rPr lang="en-US" b="1" dirty="0">
                <a:latin typeface="Aptos Narrow" panose="020B0004020202020204" pitchFamily="34" charset="0"/>
              </a:rPr>
              <a:t>CDN (Content Delivery Network) </a:t>
            </a:r>
            <a:r>
              <a:rPr lang="en-US" dirty="0">
                <a:latin typeface="Aptos Narrow" panose="020B0004020202020204" pitchFamily="34" charset="0"/>
              </a:rPr>
              <a:t>and globally distributed servers: to provide static content</a:t>
            </a:r>
          </a:p>
          <a:p>
            <a:r>
              <a:rPr lang="en-US" b="1" dirty="0">
                <a:latin typeface="Aptos Narrow" panose="020B0004020202020204" pitchFamily="34" charset="0"/>
              </a:rPr>
              <a:t>Signaling server</a:t>
            </a:r>
            <a:r>
              <a:rPr lang="en-US" dirty="0">
                <a:latin typeface="Aptos Narrow" panose="020B0004020202020204" pitchFamily="34" charset="0"/>
              </a:rPr>
              <a:t>: to manage authentication, join/leave from meetings</a:t>
            </a:r>
          </a:p>
          <a:p>
            <a:r>
              <a:rPr lang="en-US" b="1" dirty="0">
                <a:latin typeface="Aptos Narrow" panose="020B0004020202020204" pitchFamily="34" charset="0"/>
              </a:rPr>
              <a:t>Media server</a:t>
            </a:r>
            <a:r>
              <a:rPr lang="en-US" dirty="0">
                <a:latin typeface="Aptos Narrow" panose="020B0004020202020204" pitchFamily="34" charset="0"/>
              </a:rPr>
              <a:t>: for audio, video and screen sharing</a:t>
            </a:r>
          </a:p>
          <a:p>
            <a:pPr marL="0" indent="0">
              <a:buNone/>
            </a:pPr>
            <a:endParaRPr lang="it-IT" dirty="0"/>
          </a:p>
          <a:p>
            <a:endParaRPr lang="it-IT" dirty="0"/>
          </a:p>
        </p:txBody>
      </p:sp>
      <p:pic>
        <p:nvPicPr>
          <p:cNvPr id="5" name="Picture 4" descr="Pannello sala server illuminato">
            <a:extLst>
              <a:ext uri="{FF2B5EF4-FFF2-40B4-BE49-F238E27FC236}">
                <a16:creationId xmlns:a16="http://schemas.microsoft.com/office/drawing/2014/main" id="{832C304E-4AEA-48B3-ED0B-37F1AB22A993}"/>
              </a:ext>
            </a:extLst>
          </p:cNvPr>
          <p:cNvPicPr>
            <a:picLocks noChangeAspect="1"/>
          </p:cNvPicPr>
          <p:nvPr/>
        </p:nvPicPr>
        <p:blipFill>
          <a:blip r:embed="rId2"/>
          <a:srcRect l="23049" r="29780"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3429745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D78006-F8C7-E2F1-01C2-E9EF29403EEF}"/>
              </a:ext>
            </a:extLst>
          </p:cNvPr>
          <p:cNvSpPr>
            <a:spLocks noGrp="1"/>
          </p:cNvSpPr>
          <p:nvPr>
            <p:ph type="title"/>
          </p:nvPr>
        </p:nvSpPr>
        <p:spPr/>
        <p:txBody>
          <a:bodyPr/>
          <a:lstStyle/>
          <a:p>
            <a:r>
              <a:rPr lang="it-IT" b="0" dirty="0">
                <a:latin typeface="Aptos Narrow" panose="020B0004020202020204" pitchFamily="34" charset="0"/>
              </a:rPr>
              <a:t>SERVERS CONTACTED FREQUENTLY</a:t>
            </a:r>
          </a:p>
        </p:txBody>
      </p:sp>
      <p:sp>
        <p:nvSpPr>
          <p:cNvPr id="3" name="Segnaposto contenuto 2">
            <a:extLst>
              <a:ext uri="{FF2B5EF4-FFF2-40B4-BE49-F238E27FC236}">
                <a16:creationId xmlns:a16="http://schemas.microsoft.com/office/drawing/2014/main" id="{923FE01F-9F3F-4585-95AC-9D344B94ADEF}"/>
              </a:ext>
            </a:extLst>
          </p:cNvPr>
          <p:cNvSpPr>
            <a:spLocks noGrp="1"/>
          </p:cNvSpPr>
          <p:nvPr>
            <p:ph idx="1"/>
          </p:nvPr>
        </p:nvSpPr>
        <p:spPr>
          <a:xfrm>
            <a:off x="640080" y="4060538"/>
            <a:ext cx="10890928" cy="2586446"/>
          </a:xfrm>
        </p:spPr>
        <p:txBody>
          <a:bodyPr/>
          <a:lstStyle/>
          <a:p>
            <a:r>
              <a:rPr lang="en-US" dirty="0">
                <a:latin typeface="Aptos Narrow" panose="020B0004020202020204" pitchFamily="34" charset="0"/>
              </a:rPr>
              <a:t>The IP addresses: 170.114.45.1, 170.114.52.38, 170.114.52.2 respectively refer to the servers most used by Zoom Video Communications for the </a:t>
            </a:r>
            <a:r>
              <a:rPr lang="en-US" b="1" dirty="0">
                <a:latin typeface="Aptos Narrow" panose="020B0004020202020204" pitchFamily="34" charset="0"/>
              </a:rPr>
              <a:t>distribution of static content </a:t>
            </a:r>
            <a:r>
              <a:rPr lang="en-US" dirty="0">
                <a:latin typeface="Aptos Narrow" panose="020B0004020202020204" pitchFamily="34" charset="0"/>
              </a:rPr>
              <a:t>via their </a:t>
            </a:r>
            <a:r>
              <a:rPr lang="en-US" b="1" dirty="0">
                <a:latin typeface="Aptos Narrow" panose="020B0004020202020204" pitchFamily="34" charset="0"/>
              </a:rPr>
              <a:t>CDN</a:t>
            </a:r>
          </a:p>
          <a:p>
            <a:r>
              <a:rPr lang="en-US" dirty="0">
                <a:latin typeface="Aptos Narrow" panose="020B0004020202020204" pitchFamily="34" charset="0"/>
              </a:rPr>
              <a:t>The IP address: 206.247.42.42 is the most contacted server during the media phase through the UDP and SRTP protocols; therefore, we could consider it a </a:t>
            </a:r>
            <a:r>
              <a:rPr lang="en-US" b="1" dirty="0">
                <a:latin typeface="Aptos Narrow" panose="020B0004020202020204" pitchFamily="34" charset="0"/>
              </a:rPr>
              <a:t>media server</a:t>
            </a:r>
            <a:endParaRPr lang="en-US" dirty="0">
              <a:latin typeface="Aptos Narrow" panose="020B0004020202020204" pitchFamily="34" charset="0"/>
            </a:endParaRPr>
          </a:p>
          <a:p>
            <a:r>
              <a:rPr lang="en-US" dirty="0">
                <a:latin typeface="Aptos Narrow" panose="020B0004020202020204" pitchFamily="34" charset="0"/>
              </a:rPr>
              <a:t>The IP addresses: 170.114.52.5, 170.114.15.219 are the most contacted servers during the opening and closing phase of the Zoom application; therefore, we can consider them as </a:t>
            </a:r>
            <a:r>
              <a:rPr lang="en-US" b="1" dirty="0">
                <a:latin typeface="Aptos Narrow" panose="020B0004020202020204" pitchFamily="34" charset="0"/>
              </a:rPr>
              <a:t>signaling servers</a:t>
            </a:r>
            <a:endParaRPr lang="en-US" dirty="0">
              <a:latin typeface="Aptos Narrow" panose="020B0004020202020204" pitchFamily="34" charset="0"/>
            </a:endParaRPr>
          </a:p>
          <a:p>
            <a:endParaRPr lang="it-IT" dirty="0"/>
          </a:p>
          <a:p>
            <a:endParaRPr lang="it-IT" dirty="0"/>
          </a:p>
        </p:txBody>
      </p:sp>
      <p:pic>
        <p:nvPicPr>
          <p:cNvPr id="4" name="Immagine 3" descr="Immagine che contiene testo, schermata, software, numero&#10;&#10;Il contenuto generato dall'IA potrebbe non essere corretto.">
            <a:extLst>
              <a:ext uri="{FF2B5EF4-FFF2-40B4-BE49-F238E27FC236}">
                <a16:creationId xmlns:a16="http://schemas.microsoft.com/office/drawing/2014/main" id="{96D52600-D010-673A-C789-1198D46145C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3529" y="2220686"/>
            <a:ext cx="10621107" cy="1376624"/>
          </a:xfrm>
          <a:prstGeom prst="rect">
            <a:avLst/>
          </a:prstGeom>
          <a:noFill/>
          <a:ln>
            <a:noFill/>
          </a:ln>
        </p:spPr>
      </p:pic>
    </p:spTree>
    <p:extLst>
      <p:ext uri="{BB962C8B-B14F-4D97-AF65-F5344CB8AC3E}">
        <p14:creationId xmlns:p14="http://schemas.microsoft.com/office/powerpoint/2010/main" val="3202089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21" name="Picture 4">
            <a:extLst>
              <a:ext uri="{FF2B5EF4-FFF2-40B4-BE49-F238E27FC236}">
                <a16:creationId xmlns:a16="http://schemas.microsoft.com/office/drawing/2014/main" id="{6BA1A04E-6556-EB84-FA49-959431435045}"/>
              </a:ext>
            </a:extLst>
          </p:cNvPr>
          <p:cNvPicPr>
            <a:picLocks noChangeAspect="1"/>
          </p:cNvPicPr>
          <p:nvPr/>
        </p:nvPicPr>
        <p:blipFill>
          <a:blip r:embed="rId2">
            <a:alphaModFix/>
          </a:blip>
          <a:srcRect l="12627" r="40648"/>
          <a:stretch>
            <a:fillRect/>
          </a:stretch>
        </p:blipFill>
        <p:spPr>
          <a:xfrm>
            <a:off x="-4704" y="10"/>
            <a:ext cx="5696712" cy="6857990"/>
          </a:xfrm>
          <a:prstGeom prst="rect">
            <a:avLst/>
          </a:prstGeom>
        </p:spPr>
      </p:pic>
      <p:sp>
        <p:nvSpPr>
          <p:cNvPr id="28" name="Rectangle 27">
            <a:extLst>
              <a:ext uri="{FF2B5EF4-FFF2-40B4-BE49-F238E27FC236}">
                <a16:creationId xmlns:a16="http://schemas.microsoft.com/office/drawing/2014/main" id="{F7017262-EEEC-4F5E-917D-A55E68A11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0375" y="-480370"/>
            <a:ext cx="4735963" cy="5696712"/>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olo 1">
            <a:extLst>
              <a:ext uri="{FF2B5EF4-FFF2-40B4-BE49-F238E27FC236}">
                <a16:creationId xmlns:a16="http://schemas.microsoft.com/office/drawing/2014/main" id="{849DDE7D-35E4-04FB-8742-A62ABFCE20FC}"/>
              </a:ext>
            </a:extLst>
          </p:cNvPr>
          <p:cNvSpPr>
            <a:spLocks noGrp="1"/>
          </p:cNvSpPr>
          <p:nvPr>
            <p:ph type="title"/>
          </p:nvPr>
        </p:nvSpPr>
        <p:spPr>
          <a:xfrm>
            <a:off x="642519" y="1371601"/>
            <a:ext cx="4023360" cy="2671482"/>
          </a:xfrm>
        </p:spPr>
        <p:txBody>
          <a:bodyPr>
            <a:normAutofit/>
          </a:bodyPr>
          <a:lstStyle/>
          <a:p>
            <a:r>
              <a:rPr lang="it-IT">
                <a:solidFill>
                  <a:srgbClr val="FFFFFF"/>
                </a:solidFill>
                <a:latin typeface="Aptos Narrow" panose="020B0004020202020204" pitchFamily="34" charset="0"/>
              </a:rPr>
              <a:t>THANKS FOR THE ATTENTION</a:t>
            </a:r>
          </a:p>
        </p:txBody>
      </p:sp>
      <p:cxnSp>
        <p:nvCxnSpPr>
          <p:cNvPr id="30" name="Straight Connector 29">
            <a:extLst>
              <a:ext uri="{FF2B5EF4-FFF2-40B4-BE49-F238E27FC236}">
                <a16:creationId xmlns:a16="http://schemas.microsoft.com/office/drawing/2014/main" id="{9A3EDAAA-869E-4AA2-A7CE-BF2C025963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18"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egnaposto contenuto 2">
            <a:extLst>
              <a:ext uri="{FF2B5EF4-FFF2-40B4-BE49-F238E27FC236}">
                <a16:creationId xmlns:a16="http://schemas.microsoft.com/office/drawing/2014/main" id="{D3B178FE-7D3B-7DA1-163A-24154CD84DD1}"/>
              </a:ext>
            </a:extLst>
          </p:cNvPr>
          <p:cNvSpPr>
            <a:spLocks noGrp="1"/>
          </p:cNvSpPr>
          <p:nvPr>
            <p:ph idx="1"/>
          </p:nvPr>
        </p:nvSpPr>
        <p:spPr>
          <a:xfrm>
            <a:off x="6300332" y="246692"/>
            <a:ext cx="5288049" cy="315477"/>
          </a:xfrm>
        </p:spPr>
        <p:txBody>
          <a:bodyPr>
            <a:normAutofit/>
          </a:bodyPr>
          <a:lstStyle/>
          <a:p>
            <a:pPr marL="0" indent="0" algn="ctr">
              <a:buNone/>
            </a:pPr>
            <a:r>
              <a:rPr lang="en-US" sz="1200" dirty="0">
                <a:latin typeface="Aptos Narrow" panose="020B0004020202020204" pitchFamily="34" charset="0"/>
              </a:rPr>
              <a:t>Below is the information from the two most contacted Zoom servers:</a:t>
            </a:r>
          </a:p>
          <a:p>
            <a:pPr marL="0" indent="0">
              <a:buNone/>
            </a:pPr>
            <a:endParaRPr lang="it-IT" dirty="0"/>
          </a:p>
        </p:txBody>
      </p:sp>
      <p:sp>
        <p:nvSpPr>
          <p:cNvPr id="4" name="CasellaDiTesto 6">
            <a:extLst>
              <a:ext uri="{FF2B5EF4-FFF2-40B4-BE49-F238E27FC236}">
                <a16:creationId xmlns:a16="http://schemas.microsoft.com/office/drawing/2014/main" id="{2792D608-402B-EC52-01C7-E6AD8B725BFB}"/>
              </a:ext>
            </a:extLst>
          </p:cNvPr>
          <p:cNvSpPr txBox="1"/>
          <p:nvPr/>
        </p:nvSpPr>
        <p:spPr>
          <a:xfrm>
            <a:off x="6293066" y="1124338"/>
            <a:ext cx="5072380" cy="2357505"/>
          </a:xfrm>
          <a:prstGeom prst="rect">
            <a:avLst/>
          </a:prstGeom>
          <a:noFill/>
        </p:spPr>
        <p:txBody>
          <a:bodyPr wrap="square">
            <a:spAutoFit/>
          </a:bodyPr>
          <a:lstStyle/>
          <a:p>
            <a:pPr algn="ctr">
              <a:lnSpc>
                <a:spcPct val="106000"/>
              </a:lnSpc>
              <a:spcAft>
                <a:spcPts val="800"/>
              </a:spcAft>
              <a:buNone/>
            </a:pP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170.114.52.5</a:t>
            </a:r>
            <a:r>
              <a:rPr lang="it-IT"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r>
              <a:rPr lang="it-IT"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 </a:t>
            </a: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us05web.zoom.us</a:t>
            </a:r>
            <a:endParaRPr lang="it-IT" sz="11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6000"/>
              </a:lnSpc>
              <a:spcAft>
                <a:spcPts val="800"/>
              </a:spcAft>
              <a:buNone/>
            </a:pPr>
            <a:r>
              <a:rPr lang="en-US" sz="1800" b="1" u="sng"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Country</a:t>
            </a:r>
            <a:r>
              <a:rPr lang="en-US" sz="1800" b="1"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 </a:t>
            </a: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United States</a:t>
            </a:r>
            <a:endParaRPr lang="it-IT" sz="11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6000"/>
              </a:lnSpc>
              <a:spcAft>
                <a:spcPts val="800"/>
              </a:spcAft>
              <a:buNone/>
            </a:pPr>
            <a:r>
              <a:rPr lang="en-US" sz="1800" b="1" u="sng"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Region</a:t>
            </a:r>
            <a:r>
              <a:rPr lang="en-US" sz="1800" b="1"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 </a:t>
            </a: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California</a:t>
            </a:r>
            <a:endParaRPr lang="it-IT" sz="11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6000"/>
              </a:lnSpc>
              <a:spcAft>
                <a:spcPts val="800"/>
              </a:spcAft>
              <a:buNone/>
            </a:pPr>
            <a:r>
              <a:rPr lang="en-US" sz="1800" b="1" u="sng"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City</a:t>
            </a:r>
            <a:r>
              <a:rPr lang="en-US" sz="1800" b="1"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 </a:t>
            </a: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San</a:t>
            </a:r>
            <a:r>
              <a:rPr lang="en-US" sz="1800" b="1"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 </a:t>
            </a: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Jose</a:t>
            </a:r>
            <a:endParaRPr lang="it-IT" sz="11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6000"/>
              </a:lnSpc>
              <a:spcAft>
                <a:spcPts val="800"/>
              </a:spcAft>
              <a:buNone/>
            </a:pPr>
            <a:r>
              <a:rPr lang="en-US" sz="1800" b="1" u="sng"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ISP</a:t>
            </a:r>
            <a:r>
              <a:rPr lang="en-US" sz="1800" b="1"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 </a:t>
            </a: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Cloudflare London, LLC </a:t>
            </a:r>
            <a:endParaRPr lang="it-IT" sz="11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6000"/>
              </a:lnSpc>
              <a:spcAft>
                <a:spcPts val="800"/>
              </a:spcAft>
              <a:buNone/>
            </a:pPr>
            <a:r>
              <a:rPr lang="en-US" sz="1800" b="1" u="sng"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Organization</a:t>
            </a:r>
            <a:r>
              <a:rPr lang="en-US" sz="1800" b="1"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 </a:t>
            </a: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Zoom Video Communications, Inc</a:t>
            </a:r>
            <a:endParaRPr lang="it-IT" sz="11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CasellaDiTesto 8">
            <a:extLst>
              <a:ext uri="{FF2B5EF4-FFF2-40B4-BE49-F238E27FC236}">
                <a16:creationId xmlns:a16="http://schemas.microsoft.com/office/drawing/2014/main" id="{0E24AA17-D6B9-B6E7-C9BF-BF2F54ECAF93}"/>
              </a:ext>
            </a:extLst>
          </p:cNvPr>
          <p:cNvSpPr txBox="1"/>
          <p:nvPr/>
        </p:nvSpPr>
        <p:spPr>
          <a:xfrm>
            <a:off x="6303544" y="3926274"/>
            <a:ext cx="5051425" cy="2487295"/>
          </a:xfrm>
          <a:prstGeom prst="rect">
            <a:avLst/>
          </a:prstGeom>
          <a:noFill/>
        </p:spPr>
        <p:txBody>
          <a:bodyPr wrap="square">
            <a:spAutoFit/>
          </a:bodyPr>
          <a:lstStyle/>
          <a:p>
            <a:pPr algn="ctr">
              <a:lnSpc>
                <a:spcPct val="106000"/>
              </a:lnSpc>
              <a:spcAft>
                <a:spcPts val="800"/>
              </a:spcAft>
              <a:buNone/>
            </a:pP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170.114.15.219</a:t>
            </a:r>
            <a:r>
              <a:rPr lang="it-IT"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sym typeface="Wingdings" panose="05000000000000000000" pitchFamily="2" charset="2"/>
              </a:rPr>
              <a:t></a:t>
            </a:r>
            <a:r>
              <a:rPr lang="it-IT"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 </a:t>
            </a: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us04zpns.zoom.us</a:t>
            </a:r>
            <a:endParaRPr lang="it-IT" sz="11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6000"/>
              </a:lnSpc>
              <a:spcAft>
                <a:spcPts val="800"/>
              </a:spcAft>
              <a:buNone/>
            </a:pPr>
            <a:r>
              <a:rPr lang="en-US" sz="1800" b="1" u="sng"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Country</a:t>
            </a:r>
            <a:r>
              <a:rPr lang="en-US" sz="1800" b="1"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 </a:t>
            </a: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United States</a:t>
            </a:r>
            <a:endParaRPr lang="it-IT" sz="11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6000"/>
              </a:lnSpc>
              <a:spcAft>
                <a:spcPts val="800"/>
              </a:spcAft>
              <a:buNone/>
            </a:pPr>
            <a:r>
              <a:rPr lang="en-US" sz="1800" b="1" u="sng"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Region</a:t>
            </a:r>
            <a:r>
              <a:rPr lang="en-US" sz="1800" b="1"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 </a:t>
            </a: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California</a:t>
            </a:r>
            <a:endParaRPr lang="it-IT" sz="11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6000"/>
              </a:lnSpc>
              <a:spcAft>
                <a:spcPts val="800"/>
              </a:spcAft>
              <a:buNone/>
            </a:pPr>
            <a:r>
              <a:rPr lang="en-US" sz="1800" b="1" u="sng"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City</a:t>
            </a:r>
            <a:r>
              <a:rPr lang="en-US" sz="1800" b="1"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 </a:t>
            </a: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San Jose</a:t>
            </a:r>
            <a:endParaRPr lang="it-IT" sz="11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6000"/>
              </a:lnSpc>
              <a:spcAft>
                <a:spcPts val="800"/>
              </a:spcAft>
              <a:buNone/>
            </a:pPr>
            <a:r>
              <a:rPr lang="en-US" sz="1800" b="1" u="sng"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ISP</a:t>
            </a: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 Amazon.com, Inc</a:t>
            </a:r>
            <a:endParaRPr lang="it-IT" sz="1100" kern="1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06000"/>
              </a:lnSpc>
              <a:spcAft>
                <a:spcPts val="800"/>
              </a:spcAft>
              <a:buNone/>
            </a:pPr>
            <a:r>
              <a:rPr lang="en-US" sz="1800" b="1" u="sng"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Organization</a:t>
            </a:r>
            <a:r>
              <a:rPr lang="en-US" sz="1800" b="1"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 </a:t>
            </a:r>
            <a:r>
              <a:rPr lang="en-US" sz="1800" kern="100" dirty="0">
                <a:solidFill>
                  <a:srgbClr val="000000"/>
                </a:solidFill>
                <a:effectLst/>
                <a:latin typeface="Aptos Narrow" panose="020B0004020202020204" pitchFamily="34" charset="0"/>
                <a:ea typeface="Aptos" panose="020B0004020202020204" pitchFamily="34" charset="0"/>
                <a:cs typeface="Times New Roman" panose="02020603050405020304" pitchFamily="18" charset="0"/>
              </a:rPr>
              <a:t>Zoom Video Communications, Inc</a:t>
            </a:r>
            <a:endParaRPr lang="it-IT" sz="1100" kern="100" dirty="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16" name="Connettore diritto 15">
            <a:extLst>
              <a:ext uri="{FF2B5EF4-FFF2-40B4-BE49-F238E27FC236}">
                <a16:creationId xmlns:a16="http://schemas.microsoft.com/office/drawing/2014/main" id="{069169D8-54F9-EB1C-B4AC-627537ACF5E8}"/>
              </a:ext>
            </a:extLst>
          </p:cNvPr>
          <p:cNvCxnSpPr>
            <a:cxnSpLocks/>
          </p:cNvCxnSpPr>
          <p:nvPr/>
        </p:nvCxnSpPr>
        <p:spPr>
          <a:xfrm>
            <a:off x="5972985" y="3688393"/>
            <a:ext cx="5712542" cy="0"/>
          </a:xfrm>
          <a:prstGeom prst="line">
            <a:avLst/>
          </a:prstGeom>
          <a:ln w="38100">
            <a:solidFill>
              <a:schemeClr val="accent1">
                <a:lumMod val="5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8560053"/>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150</TotalTime>
  <Words>804</Words>
  <Application>Microsoft Office PowerPoint</Application>
  <PresentationFormat>Widescreen</PresentationFormat>
  <Paragraphs>74</Paragraphs>
  <Slides>13</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13</vt:i4>
      </vt:variant>
    </vt:vector>
  </HeadingPairs>
  <TitlesOfParts>
    <vt:vector size="18" baseType="lpstr">
      <vt:lpstr>Aptos</vt:lpstr>
      <vt:lpstr>Aptos Narrow</vt:lpstr>
      <vt:lpstr>Arial</vt:lpstr>
      <vt:lpstr>Grandview Display</vt:lpstr>
      <vt:lpstr>DashVTI</vt:lpstr>
      <vt:lpstr>inspect network traffic when using the ZOOM app </vt:lpstr>
      <vt:lpstr>INTRODUCTION</vt:lpstr>
      <vt:lpstr>BENEFITS AND USE CASES</vt:lpstr>
      <vt:lpstr>WIRESHARK</vt:lpstr>
      <vt:lpstr>APP OPENING PHASE</vt:lpstr>
      <vt:lpstr>AUTHENTICATION</vt:lpstr>
      <vt:lpstr>I/O GRAPHIC</vt:lpstr>
      <vt:lpstr>AUDIO/VIDEO COMMUNICATIONS</vt:lpstr>
      <vt:lpstr>I/O GRAPHICS</vt:lpstr>
      <vt:lpstr>PROTOCOLS USED</vt:lpstr>
      <vt:lpstr>ZOOM SERVERS</vt:lpstr>
      <vt:lpstr>SERVERS CONTACTED FREQUENTLY</vt:lpstr>
      <vt:lpstr>THANKS FOR THE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Alessandro Di Santo</dc:creator>
  <cp:lastModifiedBy>Alessandro Di Santo</cp:lastModifiedBy>
  <cp:revision>7</cp:revision>
  <dcterms:created xsi:type="dcterms:W3CDTF">2025-09-15T17:10:22Z</dcterms:created>
  <dcterms:modified xsi:type="dcterms:W3CDTF">2025-09-16T05:50:29Z</dcterms:modified>
</cp:coreProperties>
</file>